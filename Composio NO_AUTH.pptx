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nsolas" charset="1" panose="020B0609020204030204"/>
      <p:regular r:id="rId19"/>
    </p:embeddedFont>
    <p:embeddedFont>
      <p:font typeface="Cambria Bold" charset="1" panose="02040803050406030204"/>
      <p:regular r:id="rId20"/>
    </p:embeddedFont>
    <p:embeddedFont>
      <p:font typeface="Calibri (MS)" charset="1" panose="020F0502020204030204"/>
      <p:regular r:id="rId21"/>
    </p:embeddedFont>
    <p:embeddedFont>
      <p:font typeface="Cambria Italics" charset="1" panose="020405030504060A0204"/>
      <p:regular r:id="rId22"/>
    </p:embeddedFont>
    <p:embeddedFont>
      <p:font typeface="Calibri (MS) Bold" charset="1" panose="020F0702030404030204"/>
      <p:regular r:id="rId24"/>
    </p:embeddedFont>
    <p:embeddedFont>
      <p:font typeface="Calibri (MS) Italics" charset="1" panose="020F05020202040A0204"/>
      <p:regular r:id="rId26"/>
    </p:embeddedFont>
    <p:embeddedFont>
      <p:font typeface="Cambria" charset="1" panose="02040503050406030204"/>
      <p:regular r:id="rId28"/>
    </p:embeddedFont>
    <p:embeddedFont>
      <p:font typeface="Consolas Bold" charset="1" panose="020B070902020403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Frame the exact task: our backend hands the third-party connection entirely to Composio. The specific gap we need to close is how that works for toolkits with NO_AUTH — where there is no credential to collect from the user at all. Everything in this deck is sourced from the prior research report only; no new lookups were performed.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COMPOSIO_API_KEY authenticates the backend to Composio. That is a completely separate layer from whatever authenticates the toolkit to the third-party service — this distinction is the key to understanding NO_AUTH on the next slide.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single most important mental model in the whole task. Two layers exist. NO_AUTH is a property of Layer 2 only — the Composio-to-toolkit leg. Layer 1, our backend's authentication to Composio via COMPOSIO_API_KEY, is untouched and always required.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NO_AUTH is a value of auth_scheme, same field that would hold OAuth2, API_KEY, or BASIC. It describes the third-party service's requirements, not our platform's. The SDK-side request to provision the Connected Account with ACTIVE status is confirmed from source; whether the hosted server actually persists that record is not something we can verify without a live sandbox test.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Steps 1 through 6 are the confirmed, client-driven part of the flow: our backend explicitly creates the NO_AUTH Auth Config, calls initiate() with AuthScheme.no_auth({}), and later calls tools.execute() — all SDK-observable. What happens inside Composio after that call is not directly observable from public source; we label it STRONG EVIDENCE rather than CONFIRMED, and phrase it as 'uses the NO_AUTH configuration' rather than asserting a specific internal resolution mechanism. There is no Connect Link, no OAuth screen, and no waiting step anywhere in the client-facing part of this flow.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initiate() is the one call we can state with confidence — it is documented as unaffected by the OAuth-link deprecation, and it accepts AuthScheme.no_auth({}) directly. link() is designed around a redirect URL and simply has no slot for NO_AUTH config, so we avoid it. The Connected Account's server-side persistence and tools.execute()'s zero-prior-initiate behavior remain open questions we mitigate by always calling initiate() explicitly.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provisioning call is the real fork in the road: OAuth uses link() and a redirect; API_KEY/BASIC and NO_AUTH both use initiate() with different config payloads. Once a connection exists, execution code is identical for all three schemes — no NO_AUTH-specific branching downstream of provisioning.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scope of our backend's responsibility doesn't shrink for NO_AUTH toolkits — userID, Auth Config setup, and COMPOSIO_API_KEY custody are still ours. What disappears is any user-facing credential step: Composio owns the Auth Config/Connected Account model and the decision of whether a call needs a credential at all.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Four blocks: client init, one-time Auth Config creation, per-user initiate() with AuthScheme.no_auth({}), and the runtime execute call, which is byte-for-byte the same regardless of scheme. This mirrors section 12 of the report exactly — no new behavior has been invented here.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Close on the division of responsibility, not just the technical mechanism. Our backend's job doesn't get smaller for NO_AUTH — identity, Auth Config setup, and API key custody are still ours. The three remaining items are real gaps in public source, not guesses we're papering over — our architecture (explicit initiate() every time, no reliance on auto-provisioning) is built to be correct regardless of how those unknowns resolve, and closing them fully would need a live sandbox test.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COMPOSIO INTEGRATION · ENGINEERING RESEARCH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2194560"/>
            <a:ext cx="16184880" cy="1783080"/>
            <a:chOff x="0" y="0"/>
            <a:chExt cx="21579840" cy="2377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2377440"/>
            </a:xfrm>
            <a:custGeom>
              <a:avLst/>
              <a:gdLst/>
              <a:ahLst/>
              <a:cxnLst/>
              <a:rect r="r" b="b" t="t" l="l"/>
              <a:pathLst>
                <a:path h="23774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864" r="0" b="-12686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280"/>
                </a:lnSpc>
              </a:pPr>
              <a:r>
                <a:rPr lang="en-US" sz="69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NO_AUTH in Composio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909060"/>
            <a:ext cx="14401800" cy="1234440"/>
            <a:chOff x="0" y="0"/>
            <a:chExt cx="1920240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02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20240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Composio authenticates and owns the connection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toolkits that require no third-party credentials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8214" y="5543074"/>
            <a:ext cx="16345852" cy="2972752"/>
            <a:chOff x="0" y="0"/>
            <a:chExt cx="21794470" cy="3963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94470" cy="3963670"/>
            </a:xfrm>
            <a:custGeom>
              <a:avLst/>
              <a:gdLst/>
              <a:ahLst/>
              <a:cxnLst/>
              <a:rect r="r" b="b" t="t" l="l"/>
              <a:pathLst>
                <a:path h="3963670" w="2179447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21647023" y="0"/>
                  </a:lnTo>
                  <a:cubicBezTo>
                    <a:pt x="21728430" y="0"/>
                    <a:pt x="21794470" y="66040"/>
                    <a:pt x="21794470" y="147447"/>
                  </a:cubicBezTo>
                  <a:lnTo>
                    <a:pt x="21794470" y="3816223"/>
                  </a:lnTo>
                  <a:cubicBezTo>
                    <a:pt x="21794470" y="3897630"/>
                    <a:pt x="21728430" y="3963670"/>
                    <a:pt x="21647023" y="3963670"/>
                  </a:cubicBezTo>
                  <a:lnTo>
                    <a:pt x="147447" y="3963670"/>
                  </a:lnTo>
                  <a:cubicBezTo>
                    <a:pt x="66040" y="3963670"/>
                    <a:pt x="0" y="3897630"/>
                    <a:pt x="0" y="3816223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71600" y="5870448"/>
            <a:ext cx="8229600" cy="411480"/>
            <a:chOff x="0" y="0"/>
            <a:chExt cx="109728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25">
                  <a:solidFill>
                    <a:srgbClr val="5B9BF2"/>
                  </a:solidFill>
                  <a:latin typeface="Consolas"/>
                  <a:ea typeface="Consolas"/>
                  <a:cs typeface="Consolas"/>
                  <a:sym typeface="Consolas"/>
                </a:rPr>
                <a:t>PROJECT REQUIREMENT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1600" y="6336792"/>
            <a:ext cx="14950440" cy="1371600"/>
            <a:chOff x="0" y="0"/>
            <a:chExt cx="1993392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933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386" r="0" b="-16238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993392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i="true">
                  <a:solidFill>
                    <a:srgbClr val="E8EEF4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“Users connect Composio; the connection must be authenticated and</a:t>
              </a:r>
            </a:p>
            <a:p>
              <a:pPr algn="l">
                <a:lnSpc>
                  <a:spcPts val="3419"/>
                </a:lnSpc>
              </a:pPr>
              <a:r>
                <a:rPr lang="en-US" sz="2850" i="true">
                  <a:solidFill>
                    <a:srgbClr val="E8EEF4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managed by Composio itself. Understand exactly how NO_AUTH</a:t>
              </a:r>
            </a:p>
            <a:p>
              <a:pPr algn="l">
                <a:lnSpc>
                  <a:spcPts val="3419"/>
                </a:lnSpc>
              </a:pPr>
              <a:r>
                <a:rPr lang="en-US" sz="2850" i="true">
                  <a:solidFill>
                    <a:srgbClr val="E8EEF4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configurations are handled.”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7845552"/>
            <a:ext cx="14950440" cy="480060"/>
            <a:chOff x="0" y="0"/>
            <a:chExt cx="1993392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933920" cy="640080"/>
            </a:xfrm>
            <a:custGeom>
              <a:avLst/>
              <a:gdLst/>
              <a:ahLst/>
              <a:cxnLst/>
              <a:rect r="r" b="b" t="t" l="l"/>
              <a:pathLst>
                <a:path h="640080" w="19933920">
                  <a:moveTo>
                    <a:pt x="0" y="0"/>
                  </a:moveTo>
                  <a:lnTo>
                    <a:pt x="19933920" y="0"/>
                  </a:lnTo>
                  <a:lnTo>
                    <a:pt x="19933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819" r="0" b="-55681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9339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Scope: this deck answers the engineering question only — not a general Composio overview.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01 ·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Basic Composio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125980"/>
            <a:ext cx="16184880" cy="548640"/>
            <a:chOff x="0" y="0"/>
            <a:chExt cx="215798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call chain, five hops — the same shape for every auth scheme, including NO_AUTH.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8214" y="4171474"/>
            <a:ext cx="2904172" cy="1601152"/>
            <a:chOff x="0" y="0"/>
            <a:chExt cx="3872230" cy="2134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72230" cy="2134870"/>
            </a:xfrm>
            <a:custGeom>
              <a:avLst/>
              <a:gdLst/>
              <a:ahLst/>
              <a:cxnLst/>
              <a:rect r="r" b="b" t="t" l="l"/>
              <a:pathLst>
                <a:path h="2134870" w="387223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723767" y="0"/>
                  </a:lnTo>
                  <a:cubicBezTo>
                    <a:pt x="3805809" y="0"/>
                    <a:pt x="3872230" y="66548"/>
                    <a:pt x="3872230" y="148463"/>
                  </a:cubicBezTo>
                  <a:lnTo>
                    <a:pt x="3872230" y="1986407"/>
                  </a:lnTo>
                  <a:cubicBezTo>
                    <a:pt x="3872230" y="2068449"/>
                    <a:pt x="3805682" y="2134870"/>
                    <a:pt x="372376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69848" y="4183380"/>
            <a:ext cx="2660904" cy="1577340"/>
            <a:chOff x="0" y="0"/>
            <a:chExt cx="3547872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47872" cy="2103120"/>
            </a:xfrm>
            <a:custGeom>
              <a:avLst/>
              <a:gdLst/>
              <a:ahLst/>
              <a:cxnLst/>
              <a:rect r="r" b="b" t="t" l="l"/>
              <a:pathLst>
                <a:path h="2103120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56" t="0" r="-2605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547872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81628" y="4848606"/>
            <a:ext cx="397764" cy="246888"/>
            <a:chOff x="0" y="0"/>
            <a:chExt cx="53035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0352" cy="329184"/>
            </a:xfrm>
            <a:custGeom>
              <a:avLst/>
              <a:gdLst/>
              <a:ahLst/>
              <a:cxnLst/>
              <a:rect r="r" b="b" t="t" l="l"/>
              <a:pathLst>
                <a:path h="329184" w="530352">
                  <a:moveTo>
                    <a:pt x="0" y="82296"/>
                  </a:moveTo>
                  <a:lnTo>
                    <a:pt x="365760" y="82296"/>
                  </a:lnTo>
                  <a:lnTo>
                    <a:pt x="365760" y="0"/>
                  </a:lnTo>
                  <a:lnTo>
                    <a:pt x="530352" y="164592"/>
                  </a:lnTo>
                  <a:lnTo>
                    <a:pt x="365760" y="329184"/>
                  </a:lnTo>
                  <a:lnTo>
                    <a:pt x="365760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08634" y="4171474"/>
            <a:ext cx="2904172" cy="1601152"/>
            <a:chOff x="0" y="0"/>
            <a:chExt cx="3872230" cy="21348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72230" cy="2134870"/>
            </a:xfrm>
            <a:custGeom>
              <a:avLst/>
              <a:gdLst/>
              <a:ahLst/>
              <a:cxnLst/>
              <a:rect r="r" b="b" t="t" l="l"/>
              <a:pathLst>
                <a:path h="2134870" w="387223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723767" y="0"/>
                  </a:lnTo>
                  <a:cubicBezTo>
                    <a:pt x="3805809" y="0"/>
                    <a:pt x="3872230" y="66548"/>
                    <a:pt x="3872230" y="148463"/>
                  </a:cubicBezTo>
                  <a:lnTo>
                    <a:pt x="3872230" y="1986407"/>
                  </a:lnTo>
                  <a:cubicBezTo>
                    <a:pt x="3872230" y="2068449"/>
                    <a:pt x="3805682" y="2134870"/>
                    <a:pt x="372376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430268" y="4183380"/>
            <a:ext cx="2660904" cy="1577340"/>
            <a:chOff x="0" y="0"/>
            <a:chExt cx="3547872" cy="2103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47872" cy="2103120"/>
            </a:xfrm>
            <a:custGeom>
              <a:avLst/>
              <a:gdLst/>
              <a:ahLst/>
              <a:cxnLst/>
              <a:rect r="r" b="b" t="t" l="l"/>
              <a:pathLst>
                <a:path h="2103120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56" t="0" r="-2605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547872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COMPOSIO_</a:t>
              </a:r>
            </a:p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API_KEY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42048" y="4848606"/>
            <a:ext cx="397764" cy="246888"/>
            <a:chOff x="0" y="0"/>
            <a:chExt cx="530352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0352" cy="329184"/>
            </a:xfrm>
            <a:custGeom>
              <a:avLst/>
              <a:gdLst/>
              <a:ahLst/>
              <a:cxnLst/>
              <a:rect r="r" b="b" t="t" l="l"/>
              <a:pathLst>
                <a:path h="329184" w="530352">
                  <a:moveTo>
                    <a:pt x="0" y="82296"/>
                  </a:moveTo>
                  <a:lnTo>
                    <a:pt x="365760" y="82296"/>
                  </a:lnTo>
                  <a:lnTo>
                    <a:pt x="365760" y="0"/>
                  </a:lnTo>
                  <a:lnTo>
                    <a:pt x="530352" y="164592"/>
                  </a:lnTo>
                  <a:lnTo>
                    <a:pt x="365760" y="329184"/>
                  </a:lnTo>
                  <a:lnTo>
                    <a:pt x="365760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669054" y="4171474"/>
            <a:ext cx="2904172" cy="1601152"/>
            <a:chOff x="0" y="0"/>
            <a:chExt cx="3872230" cy="2134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72230" cy="2134870"/>
            </a:xfrm>
            <a:custGeom>
              <a:avLst/>
              <a:gdLst/>
              <a:ahLst/>
              <a:cxnLst/>
              <a:rect r="r" b="b" t="t" l="l"/>
              <a:pathLst>
                <a:path h="2134870" w="387223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723767" y="0"/>
                  </a:lnTo>
                  <a:cubicBezTo>
                    <a:pt x="3805809" y="0"/>
                    <a:pt x="3872230" y="66548"/>
                    <a:pt x="3872230" y="148463"/>
                  </a:cubicBezTo>
                  <a:lnTo>
                    <a:pt x="3872230" y="1986407"/>
                  </a:lnTo>
                  <a:cubicBezTo>
                    <a:pt x="3872230" y="2068449"/>
                    <a:pt x="3805682" y="2134870"/>
                    <a:pt x="372376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790688" y="4183380"/>
            <a:ext cx="2660904" cy="1577340"/>
            <a:chOff x="0" y="0"/>
            <a:chExt cx="3547872" cy="21031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47872" cy="2103120"/>
            </a:xfrm>
            <a:custGeom>
              <a:avLst/>
              <a:gdLst/>
              <a:ahLst/>
              <a:cxnLst/>
              <a:rect r="r" b="b" t="t" l="l"/>
              <a:pathLst>
                <a:path h="2103120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56" t="0" r="-2605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3547872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02468" y="4848606"/>
            <a:ext cx="397764" cy="246888"/>
            <a:chOff x="0" y="0"/>
            <a:chExt cx="530352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352" cy="329184"/>
            </a:xfrm>
            <a:custGeom>
              <a:avLst/>
              <a:gdLst/>
              <a:ahLst/>
              <a:cxnLst/>
              <a:rect r="r" b="b" t="t" l="l"/>
              <a:pathLst>
                <a:path h="329184" w="530352">
                  <a:moveTo>
                    <a:pt x="0" y="82296"/>
                  </a:moveTo>
                  <a:lnTo>
                    <a:pt x="365760" y="82296"/>
                  </a:lnTo>
                  <a:lnTo>
                    <a:pt x="365760" y="0"/>
                  </a:lnTo>
                  <a:lnTo>
                    <a:pt x="530352" y="164592"/>
                  </a:lnTo>
                  <a:lnTo>
                    <a:pt x="365760" y="329184"/>
                  </a:lnTo>
                  <a:lnTo>
                    <a:pt x="365760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029474" y="4171474"/>
            <a:ext cx="2904172" cy="1601152"/>
            <a:chOff x="0" y="0"/>
            <a:chExt cx="3872230" cy="21348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72230" cy="2134870"/>
            </a:xfrm>
            <a:custGeom>
              <a:avLst/>
              <a:gdLst/>
              <a:ahLst/>
              <a:cxnLst/>
              <a:rect r="r" b="b" t="t" l="l"/>
              <a:pathLst>
                <a:path h="2134870" w="387223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723767" y="0"/>
                  </a:lnTo>
                  <a:cubicBezTo>
                    <a:pt x="3805809" y="0"/>
                    <a:pt x="3872230" y="66548"/>
                    <a:pt x="3872230" y="148463"/>
                  </a:cubicBezTo>
                  <a:lnTo>
                    <a:pt x="3872230" y="1986407"/>
                  </a:lnTo>
                  <a:cubicBezTo>
                    <a:pt x="3872230" y="2068449"/>
                    <a:pt x="3805682" y="2134870"/>
                    <a:pt x="372376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F2705B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151108" y="4183380"/>
            <a:ext cx="2660904" cy="1577340"/>
            <a:chOff x="0" y="0"/>
            <a:chExt cx="3547872" cy="21031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547872" cy="2103120"/>
            </a:xfrm>
            <a:custGeom>
              <a:avLst/>
              <a:gdLst/>
              <a:ahLst/>
              <a:cxnLst/>
              <a:rect r="r" b="b" t="t" l="l"/>
              <a:pathLst>
                <a:path h="2103120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56" t="0" r="-2605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547872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Toolkit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962888" y="4848606"/>
            <a:ext cx="397764" cy="246888"/>
            <a:chOff x="0" y="0"/>
            <a:chExt cx="530352" cy="3291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0352" cy="329184"/>
            </a:xfrm>
            <a:custGeom>
              <a:avLst/>
              <a:gdLst/>
              <a:ahLst/>
              <a:cxnLst/>
              <a:rect r="r" b="b" t="t" l="l"/>
              <a:pathLst>
                <a:path h="329184" w="530352">
                  <a:moveTo>
                    <a:pt x="0" y="82296"/>
                  </a:moveTo>
                  <a:lnTo>
                    <a:pt x="365760" y="82296"/>
                  </a:lnTo>
                  <a:lnTo>
                    <a:pt x="365760" y="0"/>
                  </a:lnTo>
                  <a:lnTo>
                    <a:pt x="530352" y="164592"/>
                  </a:lnTo>
                  <a:lnTo>
                    <a:pt x="365760" y="329184"/>
                  </a:lnTo>
                  <a:lnTo>
                    <a:pt x="365760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389894" y="4171474"/>
            <a:ext cx="2904172" cy="1601152"/>
            <a:chOff x="0" y="0"/>
            <a:chExt cx="3872230" cy="2134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72230" cy="2134870"/>
            </a:xfrm>
            <a:custGeom>
              <a:avLst/>
              <a:gdLst/>
              <a:ahLst/>
              <a:cxnLst/>
              <a:rect r="r" b="b" t="t" l="l"/>
              <a:pathLst>
                <a:path h="2134870" w="3872230">
                  <a:moveTo>
                    <a:pt x="0" y="148463"/>
                  </a:moveTo>
                  <a:cubicBezTo>
                    <a:pt x="0" y="66548"/>
                    <a:pt x="66548" y="0"/>
                    <a:pt x="148463" y="0"/>
                  </a:cubicBezTo>
                  <a:lnTo>
                    <a:pt x="3723767" y="0"/>
                  </a:lnTo>
                  <a:cubicBezTo>
                    <a:pt x="3805809" y="0"/>
                    <a:pt x="3872230" y="66548"/>
                    <a:pt x="3872230" y="148463"/>
                  </a:cubicBezTo>
                  <a:lnTo>
                    <a:pt x="3872230" y="1986407"/>
                  </a:lnTo>
                  <a:cubicBezTo>
                    <a:pt x="3872230" y="2068449"/>
                    <a:pt x="3805682" y="2134870"/>
                    <a:pt x="3723767" y="2134870"/>
                  </a:cubicBezTo>
                  <a:lnTo>
                    <a:pt x="148463" y="2134870"/>
                  </a:lnTo>
                  <a:cubicBezTo>
                    <a:pt x="66548" y="2134870"/>
                    <a:pt x="0" y="2068322"/>
                    <a:pt x="0" y="1986407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511528" y="4183380"/>
            <a:ext cx="2660904" cy="1577340"/>
            <a:chOff x="0" y="0"/>
            <a:chExt cx="3547872" cy="2103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47872" cy="2103120"/>
            </a:xfrm>
            <a:custGeom>
              <a:avLst/>
              <a:gdLst/>
              <a:ahLst/>
              <a:cxnLst/>
              <a:rect r="r" b="b" t="t" l="l"/>
              <a:pathLst>
                <a:path h="2103120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056" t="0" r="-2605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547872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" y="6377940"/>
            <a:ext cx="16184880" cy="1097280"/>
            <a:chOff x="0" y="0"/>
            <a:chExt cx="2157984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5798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21579840" cy="1567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backend authenticates to Composio with COMPOSIO_API_KEY (server-side only). The backend supplies userID, and Composio uses the configured authentication/connection model to execute the selected tool.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948940" y="7859268"/>
            <a:ext cx="10972800" cy="411480"/>
            <a:chOff x="0" y="0"/>
            <a:chExt cx="146304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Report section C — “What Composio does.”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02 · AUTHENTICATION LAYERS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Two Layers of Auth — NO_AUTH Touches Only One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214" y="2525554"/>
            <a:ext cx="7704772" cy="4892992"/>
            <a:chOff x="0" y="0"/>
            <a:chExt cx="10273030" cy="65239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73030" cy="6523990"/>
            </a:xfrm>
            <a:custGeom>
              <a:avLst/>
              <a:gdLst/>
              <a:ahLst/>
              <a:cxnLst/>
              <a:rect r="r" b="b" t="t" l="l"/>
              <a:pathLst>
                <a:path h="6523990" w="1027303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125964" y="0"/>
                  </a:lnTo>
                  <a:cubicBezTo>
                    <a:pt x="10207117" y="0"/>
                    <a:pt x="10273030" y="65786"/>
                    <a:pt x="10273030" y="147066"/>
                  </a:cubicBezTo>
                  <a:lnTo>
                    <a:pt x="10273030" y="6376924"/>
                  </a:lnTo>
                  <a:cubicBezTo>
                    <a:pt x="10273030" y="6458077"/>
                    <a:pt x="10207244" y="6523990"/>
                    <a:pt x="10125964" y="6523990"/>
                  </a:cubicBezTo>
                  <a:lnTo>
                    <a:pt x="147066" y="6523990"/>
                  </a:lnTo>
                  <a:cubicBezTo>
                    <a:pt x="65786" y="6523990"/>
                    <a:pt x="0" y="6458204"/>
                    <a:pt x="0" y="6376924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839212"/>
            <a:ext cx="5486400" cy="411480"/>
            <a:chOff x="0" y="0"/>
            <a:chExt cx="7315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25">
                  <a:solidFill>
                    <a:srgbClr val="5B9BF2"/>
                  </a:solidFill>
                  <a:latin typeface="Consolas"/>
                  <a:ea typeface="Consolas"/>
                  <a:cs typeface="Consolas"/>
                  <a:sym typeface="Consolas"/>
                </a:rPr>
                <a:t>LAYER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600" y="3291840"/>
            <a:ext cx="6858000" cy="685800"/>
            <a:chOff x="0" y="0"/>
            <a:chExt cx="91440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144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Your Backend ↔ Composio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71600" y="3977640"/>
            <a:ext cx="6858000" cy="548640"/>
            <a:chOff x="0" y="0"/>
            <a:chExt cx="9144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8EEF4"/>
                  </a:solidFill>
                  <a:latin typeface="Consolas"/>
                  <a:ea typeface="Consolas"/>
                  <a:cs typeface="Consolas"/>
                  <a:sym typeface="Consolas"/>
                </a:rPr>
                <a:t>Authenticated by COMPOSIO_API_KEY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1600" y="4663440"/>
            <a:ext cx="6858000" cy="1234440"/>
            <a:chOff x="0" y="0"/>
            <a:chExt cx="914400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14300"/>
              <a:ext cx="914400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Always required — completely independent of which auth_scheme the toolkit uses.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9694" y="6023134"/>
            <a:ext cx="6881812" cy="846773"/>
            <a:chOff x="0" y="0"/>
            <a:chExt cx="9175750" cy="11290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75750" cy="1129030"/>
            </a:xfrm>
            <a:custGeom>
              <a:avLst/>
              <a:gdLst/>
              <a:ahLst/>
              <a:cxnLst/>
              <a:rect r="r" b="b" t="t" l="l"/>
              <a:pathLst>
                <a:path h="1129030" w="917575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9025255" y="0"/>
                  </a:lnTo>
                  <a:cubicBezTo>
                    <a:pt x="9108440" y="0"/>
                    <a:pt x="9175750" y="67437"/>
                    <a:pt x="9175750" y="150495"/>
                  </a:cubicBezTo>
                  <a:lnTo>
                    <a:pt x="9175750" y="978535"/>
                  </a:lnTo>
                  <a:cubicBezTo>
                    <a:pt x="9175750" y="1061720"/>
                    <a:pt x="9108313" y="1129030"/>
                    <a:pt x="9025255" y="1129030"/>
                  </a:cubicBezTo>
                  <a:lnTo>
                    <a:pt x="150495" y="1129030"/>
                  </a:lnTo>
                  <a:cubicBezTo>
                    <a:pt x="67437" y="1129030"/>
                    <a:pt x="0" y="1061593"/>
                    <a:pt x="0" y="978535"/>
                  </a:cubicBezTo>
                  <a:close/>
                </a:path>
              </a:pathLst>
            </a:custGeom>
            <a:solidFill>
              <a:srgbClr val="24160F"/>
            </a:solidFill>
            <a:ln w="23812" cap="sq">
              <a:solidFill>
                <a:srgbClr val="F2705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481328" y="6035040"/>
            <a:ext cx="6638544" cy="822960"/>
            <a:chOff x="0" y="0"/>
            <a:chExt cx="8851392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851392" cy="1097280"/>
            </a:xfrm>
            <a:custGeom>
              <a:avLst/>
              <a:gdLst/>
              <a:ahLst/>
              <a:cxnLst/>
              <a:rect r="r" b="b" t="t" l="l"/>
              <a:pathLst>
                <a:path h="1097280" w="8851392">
                  <a:moveTo>
                    <a:pt x="0" y="0"/>
                  </a:moveTo>
                  <a:lnTo>
                    <a:pt x="8851392" y="0"/>
                  </a:lnTo>
                  <a:lnTo>
                    <a:pt x="885139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79" r="0" b="-10717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851392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270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 affected by NO_AUTH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14974" y="2525554"/>
            <a:ext cx="7704772" cy="4892992"/>
            <a:chOff x="0" y="0"/>
            <a:chExt cx="10273030" cy="65239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73030" cy="6523990"/>
            </a:xfrm>
            <a:custGeom>
              <a:avLst/>
              <a:gdLst/>
              <a:ahLst/>
              <a:cxnLst/>
              <a:rect r="r" b="b" t="t" l="l"/>
              <a:pathLst>
                <a:path h="6523990" w="1027303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125964" y="0"/>
                  </a:lnTo>
                  <a:cubicBezTo>
                    <a:pt x="10207117" y="0"/>
                    <a:pt x="10273030" y="65786"/>
                    <a:pt x="10273030" y="147066"/>
                  </a:cubicBezTo>
                  <a:lnTo>
                    <a:pt x="10273030" y="6376924"/>
                  </a:lnTo>
                  <a:cubicBezTo>
                    <a:pt x="10273030" y="6458077"/>
                    <a:pt x="10207244" y="6523990"/>
                    <a:pt x="10125964" y="6523990"/>
                  </a:cubicBezTo>
                  <a:lnTo>
                    <a:pt x="147066" y="6523990"/>
                  </a:lnTo>
                  <a:cubicBezTo>
                    <a:pt x="65786" y="6523990"/>
                    <a:pt x="0" y="6458204"/>
                    <a:pt x="0" y="6376924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738360" y="2839212"/>
            <a:ext cx="5486400" cy="411480"/>
            <a:chOff x="0" y="0"/>
            <a:chExt cx="73152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225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LAYER 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38360" y="3291840"/>
            <a:ext cx="6858000" cy="685800"/>
            <a:chOff x="0" y="0"/>
            <a:chExt cx="91440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9144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Composio ↔ Third-Party Toolkit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8360" y="3977640"/>
            <a:ext cx="6858000" cy="548640"/>
            <a:chOff x="0" y="0"/>
            <a:chExt cx="91440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144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E8EEF4"/>
                  </a:solidFill>
                  <a:latin typeface="Consolas"/>
                  <a:ea typeface="Consolas"/>
                  <a:cs typeface="Consolas"/>
                  <a:sym typeface="Consolas"/>
                </a:rPr>
                <a:t>Governed by the Connected Account's auth_scheme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38360" y="4663440"/>
            <a:ext cx="6858000" cy="1234440"/>
            <a:chOff x="0" y="0"/>
            <a:chExt cx="9144000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9144000" cy="1760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OAuth2, API_KEY, BASIC, or NO_AUTH — this is the credential set that NO_AUTH empties out.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26454" y="6023134"/>
            <a:ext cx="6881812" cy="846773"/>
            <a:chOff x="0" y="0"/>
            <a:chExt cx="9175750" cy="11290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75750" cy="1129030"/>
            </a:xfrm>
            <a:custGeom>
              <a:avLst/>
              <a:gdLst/>
              <a:ahLst/>
              <a:cxnLst/>
              <a:rect r="r" b="b" t="t" l="l"/>
              <a:pathLst>
                <a:path h="1129030" w="917575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9025255" y="0"/>
                  </a:lnTo>
                  <a:cubicBezTo>
                    <a:pt x="9108440" y="0"/>
                    <a:pt x="9175750" y="67437"/>
                    <a:pt x="9175750" y="150495"/>
                  </a:cubicBezTo>
                  <a:lnTo>
                    <a:pt x="9175750" y="978535"/>
                  </a:lnTo>
                  <a:cubicBezTo>
                    <a:pt x="9175750" y="1061720"/>
                    <a:pt x="9108313" y="1129030"/>
                    <a:pt x="9025255" y="1129030"/>
                  </a:cubicBezTo>
                  <a:lnTo>
                    <a:pt x="150495" y="1129030"/>
                  </a:lnTo>
                  <a:cubicBezTo>
                    <a:pt x="67437" y="1129030"/>
                    <a:pt x="0" y="1061593"/>
                    <a:pt x="0" y="978535"/>
                  </a:cubicBezTo>
                  <a:close/>
                </a:path>
              </a:pathLst>
            </a:custGeom>
            <a:solidFill>
              <a:srgbClr val="0C2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848088" y="6035040"/>
            <a:ext cx="6638544" cy="822960"/>
            <a:chOff x="0" y="0"/>
            <a:chExt cx="8851392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851392" cy="1097280"/>
            </a:xfrm>
            <a:custGeom>
              <a:avLst/>
              <a:gdLst/>
              <a:ahLst/>
              <a:cxnLst/>
              <a:rect r="r" b="b" t="t" l="l"/>
              <a:pathLst>
                <a:path h="1097280" w="8851392">
                  <a:moveTo>
                    <a:pt x="0" y="0"/>
                  </a:moveTo>
                  <a:lnTo>
                    <a:pt x="8851392" y="0"/>
                  </a:lnTo>
                  <a:lnTo>
                    <a:pt x="8851392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79" r="0" b="-1071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851392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34E5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is where NO_AUTH applies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" y="7749540"/>
            <a:ext cx="16184880" cy="685800"/>
            <a:chOff x="0" y="0"/>
            <a:chExt cx="2157984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579839" cy="914400"/>
            </a:xfrm>
            <a:custGeom>
              <a:avLst/>
              <a:gdLst/>
              <a:ahLst/>
              <a:cxnLst/>
              <a:rect r="r" b="b" t="t" l="l"/>
              <a:pathLst>
                <a:path h="91440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846" r="0" b="-40984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1579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E8EEF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Bottom line: NO_AUTH does not mean “no auth on our platform.” It means the third-party leg has nothing to authenticate.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03 · DEFINITION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Exactly Is NO_AUTH?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214" y="2456974"/>
            <a:ext cx="16345852" cy="1806892"/>
            <a:chOff x="0" y="0"/>
            <a:chExt cx="21794470" cy="24091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94471" cy="2409190"/>
            </a:xfrm>
            <a:custGeom>
              <a:avLst/>
              <a:gdLst/>
              <a:ahLst/>
              <a:cxnLst/>
              <a:rect r="r" b="b" t="t" l="l"/>
              <a:pathLst>
                <a:path h="2409190" w="21794471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1646262" y="0"/>
                  </a:lnTo>
                  <a:cubicBezTo>
                    <a:pt x="21728176" y="0"/>
                    <a:pt x="21794471" y="66421"/>
                    <a:pt x="21794471" y="148209"/>
                  </a:cubicBezTo>
                  <a:lnTo>
                    <a:pt x="21794471" y="2260981"/>
                  </a:lnTo>
                  <a:cubicBezTo>
                    <a:pt x="21794471" y="2342896"/>
                    <a:pt x="21728050" y="2409190"/>
                    <a:pt x="21646262" y="2409190"/>
                  </a:cubicBezTo>
                  <a:lnTo>
                    <a:pt x="148209" y="2409190"/>
                  </a:lnTo>
                  <a:cubicBezTo>
                    <a:pt x="66421" y="2409190"/>
                    <a:pt x="0" y="2342769"/>
                    <a:pt x="0" y="2260981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674620"/>
            <a:ext cx="15499080" cy="1371600"/>
            <a:chOff x="0" y="0"/>
            <a:chExt cx="2066544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65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180" r="0" b="-17018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2066544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25"/>
                </a:lnSpc>
              </a:pPr>
              <a:r>
                <a:rPr lang="en-US" sz="25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NO_AUTH is one value of auth_scheme — not a toggle that removes the Connected Account object,</a:t>
              </a:r>
            </a:p>
            <a:p>
              <a:pPr algn="l">
                <a:lnSpc>
                  <a:spcPts val="3825"/>
                </a:lnSpc>
              </a:pPr>
              <a:r>
                <a:rPr lang="en-US" sz="25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and not an absence of authentication infrastructure.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8214" y="4582954"/>
            <a:ext cx="5167312" cy="3109912"/>
            <a:chOff x="0" y="0"/>
            <a:chExt cx="6889750" cy="4146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89750" cy="4146550"/>
            </a:xfrm>
            <a:custGeom>
              <a:avLst/>
              <a:gdLst/>
              <a:ahLst/>
              <a:cxnLst/>
              <a:rect r="r" b="b" t="t" l="l"/>
              <a:pathLst>
                <a:path h="4146550" w="688975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42303" y="0"/>
                  </a:lnTo>
                  <a:cubicBezTo>
                    <a:pt x="6823710" y="0"/>
                    <a:pt x="6889750" y="66040"/>
                    <a:pt x="6889750" y="147447"/>
                  </a:cubicBezTo>
                  <a:lnTo>
                    <a:pt x="6889750" y="3999103"/>
                  </a:lnTo>
                  <a:cubicBezTo>
                    <a:pt x="6889750" y="4080510"/>
                    <a:pt x="6823710" y="4146550"/>
                    <a:pt x="6742303" y="4146550"/>
                  </a:cubicBezTo>
                  <a:lnTo>
                    <a:pt x="147447" y="4146550"/>
                  </a:lnTo>
                  <a:cubicBezTo>
                    <a:pt x="66040" y="4146550"/>
                    <a:pt x="0" y="4080510"/>
                    <a:pt x="0" y="3999103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4869180"/>
            <a:ext cx="4457700" cy="411480"/>
            <a:chOff x="0" y="0"/>
            <a:chExt cx="59436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94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150">
                  <a:solidFill>
                    <a:srgbClr val="5B9BF2"/>
                  </a:solidFill>
                  <a:latin typeface="Consolas"/>
                  <a:ea typeface="Consolas"/>
                  <a:cs typeface="Consolas"/>
                  <a:sym typeface="Consolas"/>
                </a:rPr>
                <a:t>IT MEANS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3020" y="5417820"/>
            <a:ext cx="4457700" cy="2057400"/>
            <a:chOff x="0" y="0"/>
            <a:chExt cx="5943600" cy="274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943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5943600" cy="285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third-party toolkit itself requires no credentials to call.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03194" y="4582954"/>
            <a:ext cx="5167312" cy="3109912"/>
            <a:chOff x="0" y="0"/>
            <a:chExt cx="6889750" cy="41465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89750" cy="4146550"/>
            </a:xfrm>
            <a:custGeom>
              <a:avLst/>
              <a:gdLst/>
              <a:ahLst/>
              <a:cxnLst/>
              <a:rect r="r" b="b" t="t" l="l"/>
              <a:pathLst>
                <a:path h="4146550" w="688975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42303" y="0"/>
                  </a:lnTo>
                  <a:cubicBezTo>
                    <a:pt x="6823710" y="0"/>
                    <a:pt x="6889750" y="66040"/>
                    <a:pt x="6889750" y="147447"/>
                  </a:cubicBezTo>
                  <a:lnTo>
                    <a:pt x="6889750" y="3999103"/>
                  </a:lnTo>
                  <a:cubicBezTo>
                    <a:pt x="6889750" y="4080510"/>
                    <a:pt x="6823710" y="4146550"/>
                    <a:pt x="6742303" y="4146550"/>
                  </a:cubicBezTo>
                  <a:lnTo>
                    <a:pt x="147447" y="4146550"/>
                  </a:lnTo>
                  <a:cubicBezTo>
                    <a:pt x="66040" y="4146550"/>
                    <a:pt x="0" y="4080510"/>
                    <a:pt x="0" y="3999103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858000" y="4869180"/>
            <a:ext cx="4457700" cy="411480"/>
            <a:chOff x="0" y="0"/>
            <a:chExt cx="59436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94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15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SDK BEHAVIOR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58000" y="5417820"/>
            <a:ext cx="4457700" cy="2057400"/>
            <a:chOff x="0" y="0"/>
            <a:chExt cx="5943600" cy="2743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5943600" cy="285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public SDK provisions a NO_AUTH connection via the Connected Accounts API with ACTIVE status.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58174" y="4582954"/>
            <a:ext cx="5167312" cy="3109912"/>
            <a:chOff x="0" y="0"/>
            <a:chExt cx="6889750" cy="41465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89750" cy="4146550"/>
            </a:xfrm>
            <a:custGeom>
              <a:avLst/>
              <a:gdLst/>
              <a:ahLst/>
              <a:cxnLst/>
              <a:rect r="r" b="b" t="t" l="l"/>
              <a:pathLst>
                <a:path h="4146550" w="688975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742303" y="0"/>
                  </a:lnTo>
                  <a:cubicBezTo>
                    <a:pt x="6823710" y="0"/>
                    <a:pt x="6889750" y="66040"/>
                    <a:pt x="6889750" y="147447"/>
                  </a:cubicBezTo>
                  <a:lnTo>
                    <a:pt x="6889750" y="3999103"/>
                  </a:lnTo>
                  <a:cubicBezTo>
                    <a:pt x="6889750" y="4080510"/>
                    <a:pt x="6823710" y="4146550"/>
                    <a:pt x="6742303" y="4146550"/>
                  </a:cubicBezTo>
                  <a:lnTo>
                    <a:pt x="147447" y="4146550"/>
                  </a:lnTo>
                  <a:cubicBezTo>
                    <a:pt x="66040" y="4146550"/>
                    <a:pt x="0" y="4080510"/>
                    <a:pt x="0" y="3999103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412980" y="4869180"/>
            <a:ext cx="4457700" cy="411480"/>
            <a:chOff x="0" y="0"/>
            <a:chExt cx="594360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94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spc="150">
                  <a:solidFill>
                    <a:srgbClr val="F2B84B"/>
                  </a:solidFill>
                  <a:latin typeface="Consolas"/>
                  <a:ea typeface="Consolas"/>
                  <a:cs typeface="Consolas"/>
                  <a:sym typeface="Consolas"/>
                </a:rPr>
                <a:t>RESEARCH LIMITATION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12980" y="5417820"/>
            <a:ext cx="4457700" cy="2057400"/>
            <a:chOff x="0" y="0"/>
            <a:chExt cx="5943600" cy="2743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3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14300"/>
              <a:ext cx="5943600" cy="2857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Whether Composio's hosted backend persists this as a stored Connected Account is not verifiable from public source.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663440" y="8065008"/>
            <a:ext cx="10972800" cy="411480"/>
            <a:chOff x="0" y="0"/>
            <a:chExt cx="14630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SDK-side request behavior is confirmed; server-side persistence is unknown.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04 ·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Exact NO_AUTH Workflow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214" y="2251234"/>
            <a:ext cx="3932872" cy="709612"/>
            <a:chOff x="0" y="0"/>
            <a:chExt cx="5243830" cy="946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43830" cy="946150"/>
            </a:xfrm>
            <a:custGeom>
              <a:avLst/>
              <a:gdLst/>
              <a:ahLst/>
              <a:cxnLst/>
              <a:rect r="r" b="b" t="t" l="l"/>
              <a:pathLst>
                <a:path h="946150" w="524383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092446" y="0"/>
                  </a:lnTo>
                  <a:cubicBezTo>
                    <a:pt x="5176012" y="0"/>
                    <a:pt x="5243830" y="67818"/>
                    <a:pt x="5243830" y="151384"/>
                  </a:cubicBezTo>
                  <a:lnTo>
                    <a:pt x="5243830" y="794766"/>
                  </a:lnTo>
                  <a:cubicBezTo>
                    <a:pt x="5243830" y="878332"/>
                    <a:pt x="5176012" y="946150"/>
                    <a:pt x="5092446" y="946150"/>
                  </a:cubicBezTo>
                  <a:lnTo>
                    <a:pt x="151384" y="946150"/>
                  </a:lnTo>
                  <a:cubicBezTo>
                    <a:pt x="67818" y="946150"/>
                    <a:pt x="0" y="878332"/>
                    <a:pt x="0" y="794766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8DA0B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9848" y="2263140"/>
            <a:ext cx="3689604" cy="685800"/>
            <a:chOff x="0" y="0"/>
            <a:chExt cx="4919472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19472" cy="914400"/>
            </a:xfrm>
            <a:custGeom>
              <a:avLst/>
              <a:gdLst/>
              <a:ahLst/>
              <a:cxnLst/>
              <a:rect r="r" b="b" t="t" l="l"/>
              <a:pathLst>
                <a:path h="914400" w="4919472">
                  <a:moveTo>
                    <a:pt x="0" y="0"/>
                  </a:moveTo>
                  <a:lnTo>
                    <a:pt x="4919472" y="0"/>
                  </a:lnTo>
                  <a:lnTo>
                    <a:pt x="4919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29" r="0" b="-548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919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rot="5386440">
            <a:off x="504806" y="5344478"/>
            <a:ext cx="4819688" cy="0"/>
          </a:xfrm>
          <a:prstGeom prst="line">
            <a:avLst/>
          </a:prstGeom>
          <a:ln cap="rnd" w="9525">
            <a:solidFill>
              <a:srgbClr val="2631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4925854" y="2251234"/>
            <a:ext cx="3932872" cy="709612"/>
            <a:chOff x="0" y="0"/>
            <a:chExt cx="5243830" cy="946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43830" cy="946150"/>
            </a:xfrm>
            <a:custGeom>
              <a:avLst/>
              <a:gdLst/>
              <a:ahLst/>
              <a:cxnLst/>
              <a:rect r="r" b="b" t="t" l="l"/>
              <a:pathLst>
                <a:path h="946150" w="524383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092446" y="0"/>
                  </a:lnTo>
                  <a:cubicBezTo>
                    <a:pt x="5176012" y="0"/>
                    <a:pt x="5243830" y="67818"/>
                    <a:pt x="5243830" y="151384"/>
                  </a:cubicBezTo>
                  <a:lnTo>
                    <a:pt x="5243830" y="794766"/>
                  </a:lnTo>
                  <a:cubicBezTo>
                    <a:pt x="5243830" y="878332"/>
                    <a:pt x="5176012" y="946150"/>
                    <a:pt x="5092446" y="946150"/>
                  </a:cubicBezTo>
                  <a:lnTo>
                    <a:pt x="151384" y="946150"/>
                  </a:lnTo>
                  <a:cubicBezTo>
                    <a:pt x="67818" y="946150"/>
                    <a:pt x="0" y="878332"/>
                    <a:pt x="0" y="794766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47488" y="2263140"/>
            <a:ext cx="3689604" cy="685800"/>
            <a:chOff x="0" y="0"/>
            <a:chExt cx="4919472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19472" cy="914400"/>
            </a:xfrm>
            <a:custGeom>
              <a:avLst/>
              <a:gdLst/>
              <a:ahLst/>
              <a:cxnLst/>
              <a:rect r="r" b="b" t="t" l="l"/>
              <a:pathLst>
                <a:path h="914400" w="4919472">
                  <a:moveTo>
                    <a:pt x="0" y="0"/>
                  </a:moveTo>
                  <a:lnTo>
                    <a:pt x="4919472" y="0"/>
                  </a:lnTo>
                  <a:lnTo>
                    <a:pt x="4919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29" r="0" b="-5482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919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Backend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5386440">
            <a:off x="4482446" y="5344478"/>
            <a:ext cx="4819688" cy="0"/>
          </a:xfrm>
          <a:prstGeom prst="line">
            <a:avLst/>
          </a:prstGeom>
          <a:ln cap="rnd" w="9525">
            <a:solidFill>
              <a:srgbClr val="2631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903494" y="2251234"/>
            <a:ext cx="3932872" cy="709612"/>
            <a:chOff x="0" y="0"/>
            <a:chExt cx="5243830" cy="946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43830" cy="946150"/>
            </a:xfrm>
            <a:custGeom>
              <a:avLst/>
              <a:gdLst/>
              <a:ahLst/>
              <a:cxnLst/>
              <a:rect r="r" b="b" t="t" l="l"/>
              <a:pathLst>
                <a:path h="946150" w="524383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092446" y="0"/>
                  </a:lnTo>
                  <a:cubicBezTo>
                    <a:pt x="5176012" y="0"/>
                    <a:pt x="5243830" y="67818"/>
                    <a:pt x="5243830" y="151384"/>
                  </a:cubicBezTo>
                  <a:lnTo>
                    <a:pt x="5243830" y="794766"/>
                  </a:lnTo>
                  <a:cubicBezTo>
                    <a:pt x="5243830" y="878332"/>
                    <a:pt x="5176012" y="946150"/>
                    <a:pt x="5092446" y="946150"/>
                  </a:cubicBezTo>
                  <a:lnTo>
                    <a:pt x="151384" y="946150"/>
                  </a:lnTo>
                  <a:cubicBezTo>
                    <a:pt x="67818" y="946150"/>
                    <a:pt x="0" y="878332"/>
                    <a:pt x="0" y="794766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025128" y="2263140"/>
            <a:ext cx="3689604" cy="685800"/>
            <a:chOff x="0" y="0"/>
            <a:chExt cx="4919472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19472" cy="914400"/>
            </a:xfrm>
            <a:custGeom>
              <a:avLst/>
              <a:gdLst/>
              <a:ahLst/>
              <a:cxnLst/>
              <a:rect r="r" b="b" t="t" l="l"/>
              <a:pathLst>
                <a:path h="914400" w="4919472">
                  <a:moveTo>
                    <a:pt x="0" y="0"/>
                  </a:moveTo>
                  <a:lnTo>
                    <a:pt x="4919472" y="0"/>
                  </a:lnTo>
                  <a:lnTo>
                    <a:pt x="4919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29" r="0" b="-548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19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Composio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5386440">
            <a:off x="8460086" y="5344478"/>
            <a:ext cx="4819688" cy="0"/>
          </a:xfrm>
          <a:prstGeom prst="line">
            <a:avLst/>
          </a:prstGeom>
          <a:ln cap="rnd" w="9525">
            <a:solidFill>
              <a:srgbClr val="2631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2881134" y="2251234"/>
            <a:ext cx="3932872" cy="709612"/>
            <a:chOff x="0" y="0"/>
            <a:chExt cx="5243830" cy="9461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43830" cy="946150"/>
            </a:xfrm>
            <a:custGeom>
              <a:avLst/>
              <a:gdLst/>
              <a:ahLst/>
              <a:cxnLst/>
              <a:rect r="r" b="b" t="t" l="l"/>
              <a:pathLst>
                <a:path h="946150" w="524383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092446" y="0"/>
                  </a:lnTo>
                  <a:cubicBezTo>
                    <a:pt x="5176012" y="0"/>
                    <a:pt x="5243830" y="67818"/>
                    <a:pt x="5243830" y="151384"/>
                  </a:cubicBezTo>
                  <a:lnTo>
                    <a:pt x="5243830" y="794766"/>
                  </a:lnTo>
                  <a:cubicBezTo>
                    <a:pt x="5243830" y="878332"/>
                    <a:pt x="5176012" y="946150"/>
                    <a:pt x="5092446" y="946150"/>
                  </a:cubicBezTo>
                  <a:lnTo>
                    <a:pt x="151384" y="946150"/>
                  </a:lnTo>
                  <a:cubicBezTo>
                    <a:pt x="67818" y="946150"/>
                    <a:pt x="0" y="878332"/>
                    <a:pt x="0" y="794766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F2705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002768" y="2263140"/>
            <a:ext cx="3689604" cy="685800"/>
            <a:chOff x="0" y="0"/>
            <a:chExt cx="4919472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19472" cy="914400"/>
            </a:xfrm>
            <a:custGeom>
              <a:avLst/>
              <a:gdLst/>
              <a:ahLst/>
              <a:cxnLst/>
              <a:rect r="r" b="b" t="t" l="l"/>
              <a:pathLst>
                <a:path h="914400" w="4919472">
                  <a:moveTo>
                    <a:pt x="0" y="0"/>
                  </a:moveTo>
                  <a:lnTo>
                    <a:pt x="4919472" y="0"/>
                  </a:lnTo>
                  <a:lnTo>
                    <a:pt x="491947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829" r="0" b="-5482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919472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Third-Party API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5386440">
            <a:off x="12437726" y="5344478"/>
            <a:ext cx="4819688" cy="0"/>
          </a:xfrm>
          <a:prstGeom prst="line">
            <a:avLst/>
          </a:prstGeom>
          <a:ln cap="rnd" w="9525">
            <a:solidFill>
              <a:srgbClr val="26314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2713101" y="3433191"/>
            <a:ext cx="403098" cy="403098"/>
            <a:chOff x="0" y="0"/>
            <a:chExt cx="537464" cy="5374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232D"/>
            </a:solidFill>
            <a:ln w="19050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2722626" y="3429000"/>
            <a:ext cx="384048" cy="384048"/>
            <a:chOff x="0" y="0"/>
            <a:chExt cx="512064" cy="5120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1206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4E5B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57550" y="3291840"/>
            <a:ext cx="13750290" cy="685800"/>
            <a:chOff x="0" y="0"/>
            <a:chExt cx="1833372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333720" cy="914400"/>
            </a:xfrm>
            <a:custGeom>
              <a:avLst/>
              <a:gdLst/>
              <a:ahLst/>
              <a:cxnLst/>
              <a:rect r="r" b="b" t="t" l="l"/>
              <a:pathLst>
                <a:path h="914400" w="18333720">
                  <a:moveTo>
                    <a:pt x="0" y="0"/>
                  </a:moveTo>
                  <a:lnTo>
                    <a:pt x="18333720" y="0"/>
                  </a:lnTo>
                  <a:lnTo>
                    <a:pt x="18333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675" r="0" b="-34067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833372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acts in your platform (your own auth)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90741" y="4118991"/>
            <a:ext cx="403098" cy="403098"/>
            <a:chOff x="0" y="0"/>
            <a:chExt cx="537464" cy="5374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232D"/>
            </a:solidFill>
            <a:ln w="19050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700266" y="4114800"/>
            <a:ext cx="384048" cy="384048"/>
            <a:chOff x="0" y="0"/>
            <a:chExt cx="512064" cy="51206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51206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4E5B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235190" y="3977640"/>
            <a:ext cx="9772650" cy="685800"/>
            <a:chOff x="0" y="0"/>
            <a:chExt cx="130302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030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3030200">
                  <a:moveTo>
                    <a:pt x="0" y="0"/>
                  </a:moveTo>
                  <a:lnTo>
                    <a:pt x="13030200" y="0"/>
                  </a:lnTo>
                  <a:lnTo>
                    <a:pt x="13030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30302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resolves stable userID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690741" y="4804791"/>
            <a:ext cx="403098" cy="403098"/>
            <a:chOff x="0" y="0"/>
            <a:chExt cx="537464" cy="5374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232D"/>
            </a:solidFill>
            <a:ln w="19050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700266" y="4800600"/>
            <a:ext cx="384048" cy="384048"/>
            <a:chOff x="0" y="0"/>
            <a:chExt cx="512064" cy="5120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51206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4E5B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11746" y="4937760"/>
            <a:ext cx="3538728" cy="137160"/>
            <a:chOff x="0" y="0"/>
            <a:chExt cx="4718304" cy="182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718304" cy="182880"/>
            </a:xfrm>
            <a:custGeom>
              <a:avLst/>
              <a:gdLst/>
              <a:ahLst/>
              <a:cxnLst/>
              <a:rect r="r" b="b" t="t" l="l"/>
              <a:pathLst>
                <a:path h="182880" w="4718304">
                  <a:moveTo>
                    <a:pt x="0" y="45720"/>
                  </a:moveTo>
                  <a:lnTo>
                    <a:pt x="4626864" y="45720"/>
                  </a:lnTo>
                  <a:lnTo>
                    <a:pt x="4626864" y="0"/>
                  </a:lnTo>
                  <a:lnTo>
                    <a:pt x="4718304" y="91440"/>
                  </a:lnTo>
                  <a:lnTo>
                    <a:pt x="4626864" y="182880"/>
                  </a:lnTo>
                  <a:lnTo>
                    <a:pt x="4626864" y="137160"/>
                  </a:lnTo>
                  <a:lnTo>
                    <a:pt x="0" y="137160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212830" y="4663440"/>
            <a:ext cx="5795010" cy="685800"/>
            <a:chOff x="0" y="0"/>
            <a:chExt cx="772668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726680" cy="914400"/>
            </a:xfrm>
            <a:custGeom>
              <a:avLst/>
              <a:gdLst/>
              <a:ahLst/>
              <a:cxnLst/>
              <a:rect r="r" b="b" t="t" l="l"/>
              <a:pathLst>
                <a:path h="914400" w="7726680">
                  <a:moveTo>
                    <a:pt x="0" y="0"/>
                  </a:moveTo>
                  <a:lnTo>
                    <a:pt x="7726680" y="0"/>
                  </a:lnTo>
                  <a:lnTo>
                    <a:pt x="7726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48" r="0" b="-11464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77266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auth_configs.create( auth_scheme: NO_AUTH ) — once per toolkit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690741" y="5490591"/>
            <a:ext cx="403098" cy="403098"/>
            <a:chOff x="0" y="0"/>
            <a:chExt cx="537464" cy="5374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232D"/>
            </a:solidFill>
            <a:ln w="19050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700266" y="5486400"/>
            <a:ext cx="384048" cy="384048"/>
            <a:chOff x="0" y="0"/>
            <a:chExt cx="512064" cy="512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51206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4E5B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111746" y="5623560"/>
            <a:ext cx="3538728" cy="137160"/>
            <a:chOff x="0" y="0"/>
            <a:chExt cx="4718304" cy="182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18304" cy="182880"/>
            </a:xfrm>
            <a:custGeom>
              <a:avLst/>
              <a:gdLst/>
              <a:ahLst/>
              <a:cxnLst/>
              <a:rect r="r" b="b" t="t" l="l"/>
              <a:pathLst>
                <a:path h="182880" w="4718304">
                  <a:moveTo>
                    <a:pt x="0" y="45720"/>
                  </a:moveTo>
                  <a:lnTo>
                    <a:pt x="4626864" y="45720"/>
                  </a:lnTo>
                  <a:lnTo>
                    <a:pt x="4626864" y="0"/>
                  </a:lnTo>
                  <a:lnTo>
                    <a:pt x="4718304" y="91440"/>
                  </a:lnTo>
                  <a:lnTo>
                    <a:pt x="4626864" y="182880"/>
                  </a:lnTo>
                  <a:lnTo>
                    <a:pt x="4626864" y="137160"/>
                  </a:lnTo>
                  <a:lnTo>
                    <a:pt x="0" y="137160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212830" y="5349240"/>
            <a:ext cx="5795010" cy="685800"/>
            <a:chOff x="0" y="0"/>
            <a:chExt cx="772668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726680" cy="914400"/>
            </a:xfrm>
            <a:custGeom>
              <a:avLst/>
              <a:gdLst/>
              <a:ahLst/>
              <a:cxnLst/>
              <a:rect r="r" b="b" t="t" l="l"/>
              <a:pathLst>
                <a:path h="914400" w="7726680">
                  <a:moveTo>
                    <a:pt x="0" y="0"/>
                  </a:moveTo>
                  <a:lnTo>
                    <a:pt x="7726680" y="0"/>
                  </a:lnTo>
                  <a:lnTo>
                    <a:pt x="7726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48" r="0" b="-11464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77266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connected_accounts.initiate(user_id, auth_config_id, AuthScheme.no_auth({}))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668381" y="6176391"/>
            <a:ext cx="403098" cy="403098"/>
            <a:chOff x="0" y="0"/>
            <a:chExt cx="537464" cy="5374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232D"/>
            </a:solidFill>
            <a:ln w="19050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677906" y="6172200"/>
            <a:ext cx="384048" cy="384048"/>
            <a:chOff x="0" y="0"/>
            <a:chExt cx="512064" cy="5120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51206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4E5B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212830" y="6035040"/>
            <a:ext cx="5795010" cy="685800"/>
            <a:chOff x="0" y="0"/>
            <a:chExt cx="772668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726680" cy="914400"/>
            </a:xfrm>
            <a:custGeom>
              <a:avLst/>
              <a:gdLst/>
              <a:ahLst/>
              <a:cxnLst/>
              <a:rect r="r" b="b" t="t" l="l"/>
              <a:pathLst>
                <a:path h="914400" w="7726680">
                  <a:moveTo>
                    <a:pt x="0" y="0"/>
                  </a:moveTo>
                  <a:lnTo>
                    <a:pt x="7726680" y="0"/>
                  </a:lnTo>
                  <a:lnTo>
                    <a:pt x="7726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48" r="0" b="-11464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77266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SDK sends Connected Account request, status = ACTIVE (no redirect step)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690741" y="6862191"/>
            <a:ext cx="403098" cy="403098"/>
            <a:chOff x="0" y="0"/>
            <a:chExt cx="537464" cy="5374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B232D"/>
            </a:solidFill>
            <a:ln w="19050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6700266" y="6858000"/>
            <a:ext cx="384048" cy="384048"/>
            <a:chOff x="0" y="0"/>
            <a:chExt cx="512064" cy="51206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512064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4E5B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7111746" y="6995160"/>
            <a:ext cx="3538728" cy="137160"/>
            <a:chOff x="0" y="0"/>
            <a:chExt cx="4718304" cy="1828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718304" cy="182880"/>
            </a:xfrm>
            <a:custGeom>
              <a:avLst/>
              <a:gdLst/>
              <a:ahLst/>
              <a:cxnLst/>
              <a:rect r="r" b="b" t="t" l="l"/>
              <a:pathLst>
                <a:path h="182880" w="4718304">
                  <a:moveTo>
                    <a:pt x="0" y="45720"/>
                  </a:moveTo>
                  <a:lnTo>
                    <a:pt x="4626864" y="45720"/>
                  </a:lnTo>
                  <a:lnTo>
                    <a:pt x="4626864" y="0"/>
                  </a:lnTo>
                  <a:lnTo>
                    <a:pt x="4718304" y="91440"/>
                  </a:lnTo>
                  <a:lnTo>
                    <a:pt x="4626864" y="182880"/>
                  </a:lnTo>
                  <a:lnTo>
                    <a:pt x="4626864" y="137160"/>
                  </a:lnTo>
                  <a:lnTo>
                    <a:pt x="0" y="137160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212830" y="6720840"/>
            <a:ext cx="5795010" cy="685800"/>
            <a:chOff x="0" y="0"/>
            <a:chExt cx="772668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726680" cy="914400"/>
            </a:xfrm>
            <a:custGeom>
              <a:avLst/>
              <a:gdLst/>
              <a:ahLst/>
              <a:cxnLst/>
              <a:rect r="r" b="b" t="t" l="l"/>
              <a:pathLst>
                <a:path h="914400" w="7726680">
                  <a:moveTo>
                    <a:pt x="0" y="0"/>
                  </a:moveTo>
                  <a:lnTo>
                    <a:pt x="7726680" y="0"/>
                  </a:lnTo>
                  <a:lnTo>
                    <a:pt x="7726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48" r="0" b="-11464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772668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tools.execute(tool_slug, user_id, args)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0120" y="7571232"/>
            <a:ext cx="11658600" cy="384048"/>
            <a:chOff x="0" y="0"/>
            <a:chExt cx="15544800" cy="51206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544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510" r="0" b="-54151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5544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spc="150">
                  <a:solidFill>
                    <a:srgbClr val="F2B84B"/>
                  </a:solidFill>
                  <a:latin typeface="Consolas"/>
                  <a:ea typeface="Consolas"/>
                  <a:cs typeface="Consolas"/>
                  <a:sym typeface="Consolas"/>
                </a:rPr>
                <a:t>Execution path — implementation view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746355" y="7547991"/>
            <a:ext cx="1925574" cy="403098"/>
            <a:chOff x="0" y="0"/>
            <a:chExt cx="2567432" cy="5374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567432" cy="537464"/>
            </a:xfrm>
            <a:custGeom>
              <a:avLst/>
              <a:gdLst/>
              <a:ahLst/>
              <a:cxnLst/>
              <a:rect r="r" b="b" t="t" l="l"/>
              <a:pathLst>
                <a:path h="537464" w="2567432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452243" y="0"/>
                  </a:lnTo>
                  <a:cubicBezTo>
                    <a:pt x="2515870" y="0"/>
                    <a:pt x="2567432" y="51562"/>
                    <a:pt x="2567432" y="115189"/>
                  </a:cubicBezTo>
                  <a:lnTo>
                    <a:pt x="2567432" y="422275"/>
                  </a:lnTo>
                  <a:cubicBezTo>
                    <a:pt x="2567432" y="485902"/>
                    <a:pt x="2515870" y="537464"/>
                    <a:pt x="2452243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1B232D"/>
            </a:solidFill>
            <a:ln w="19050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948214" y="7998238"/>
            <a:ext cx="3046819" cy="874205"/>
            <a:chOff x="0" y="0"/>
            <a:chExt cx="4062425" cy="116560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062349" cy="1165606"/>
            </a:xfrm>
            <a:custGeom>
              <a:avLst/>
              <a:gdLst/>
              <a:ahLst/>
              <a:cxnLst/>
              <a:rect r="r" b="b" t="t" l="l"/>
              <a:pathLst>
                <a:path h="1165606" w="40623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911981" y="0"/>
                  </a:lnTo>
                  <a:cubicBezTo>
                    <a:pt x="3995039" y="0"/>
                    <a:pt x="4062349" y="67310"/>
                    <a:pt x="4062349" y="150368"/>
                  </a:cubicBezTo>
                  <a:lnTo>
                    <a:pt x="4062349" y="1015238"/>
                  </a:lnTo>
                  <a:cubicBezTo>
                    <a:pt x="4062349" y="1098296"/>
                    <a:pt x="3995039" y="1165606"/>
                    <a:pt x="3911981" y="1165606"/>
                  </a:cubicBezTo>
                  <a:lnTo>
                    <a:pt x="150368" y="1165606"/>
                  </a:lnTo>
                  <a:cubicBezTo>
                    <a:pt x="67310" y="1165606"/>
                    <a:pt x="0" y="1098296"/>
                    <a:pt x="0" y="1015238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069848" y="8010144"/>
            <a:ext cx="2803550" cy="850392"/>
            <a:chOff x="0" y="0"/>
            <a:chExt cx="3738067" cy="11338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73806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8068">
                  <a:moveTo>
                    <a:pt x="0" y="0"/>
                  </a:moveTo>
                  <a:lnTo>
                    <a:pt x="3738068" y="0"/>
                  </a:lnTo>
                  <a:lnTo>
                    <a:pt x="373806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37" r="0" b="-14237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3738067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Composio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010558" y="8339328"/>
            <a:ext cx="246888" cy="246888"/>
            <a:chOff x="0" y="0"/>
            <a:chExt cx="329184" cy="32918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82296"/>
                  </a:moveTo>
                  <a:lnTo>
                    <a:pt x="164592" y="82296"/>
                  </a:lnTo>
                  <a:lnTo>
                    <a:pt x="164592" y="0"/>
                  </a:lnTo>
                  <a:lnTo>
                    <a:pt x="329184" y="164592"/>
                  </a:lnTo>
                  <a:lnTo>
                    <a:pt x="164592" y="329184"/>
                  </a:lnTo>
                  <a:lnTo>
                    <a:pt x="164592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272972" y="7998238"/>
            <a:ext cx="3046819" cy="874205"/>
            <a:chOff x="0" y="0"/>
            <a:chExt cx="4062425" cy="116560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062349" cy="1165606"/>
            </a:xfrm>
            <a:custGeom>
              <a:avLst/>
              <a:gdLst/>
              <a:ahLst/>
              <a:cxnLst/>
              <a:rect r="r" b="b" t="t" l="l"/>
              <a:pathLst>
                <a:path h="1165606" w="40623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911981" y="0"/>
                  </a:lnTo>
                  <a:cubicBezTo>
                    <a:pt x="3995039" y="0"/>
                    <a:pt x="4062349" y="67310"/>
                    <a:pt x="4062349" y="150368"/>
                  </a:cubicBezTo>
                  <a:lnTo>
                    <a:pt x="4062349" y="1015238"/>
                  </a:lnTo>
                  <a:cubicBezTo>
                    <a:pt x="4062349" y="1098296"/>
                    <a:pt x="3995039" y="1165606"/>
                    <a:pt x="3911981" y="1165606"/>
                  </a:cubicBezTo>
                  <a:lnTo>
                    <a:pt x="150368" y="1165606"/>
                  </a:lnTo>
                  <a:cubicBezTo>
                    <a:pt x="67310" y="1165606"/>
                    <a:pt x="0" y="1098296"/>
                    <a:pt x="0" y="1015238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4394606" y="8010144"/>
            <a:ext cx="2803550" cy="850392"/>
            <a:chOff x="0" y="0"/>
            <a:chExt cx="3738067" cy="113385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73806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8068">
                  <a:moveTo>
                    <a:pt x="0" y="0"/>
                  </a:moveTo>
                  <a:lnTo>
                    <a:pt x="3738068" y="0"/>
                  </a:lnTo>
                  <a:lnTo>
                    <a:pt x="373806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37" r="0" b="-1423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19050"/>
              <a:ext cx="3738067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Uses NO_AUTH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configuration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335317" y="8339328"/>
            <a:ext cx="246888" cy="246888"/>
            <a:chOff x="0" y="0"/>
            <a:chExt cx="329184" cy="3291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82296"/>
                  </a:moveTo>
                  <a:lnTo>
                    <a:pt x="164592" y="82296"/>
                  </a:lnTo>
                  <a:lnTo>
                    <a:pt x="164592" y="0"/>
                  </a:lnTo>
                  <a:lnTo>
                    <a:pt x="329184" y="164592"/>
                  </a:lnTo>
                  <a:lnTo>
                    <a:pt x="164592" y="329184"/>
                  </a:lnTo>
                  <a:lnTo>
                    <a:pt x="164592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7597731" y="7998238"/>
            <a:ext cx="3046819" cy="874205"/>
            <a:chOff x="0" y="0"/>
            <a:chExt cx="4062425" cy="116560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062349" cy="1165606"/>
            </a:xfrm>
            <a:custGeom>
              <a:avLst/>
              <a:gdLst/>
              <a:ahLst/>
              <a:cxnLst/>
              <a:rect r="r" b="b" t="t" l="l"/>
              <a:pathLst>
                <a:path h="1165606" w="40623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911981" y="0"/>
                  </a:lnTo>
                  <a:cubicBezTo>
                    <a:pt x="3995039" y="0"/>
                    <a:pt x="4062349" y="67310"/>
                    <a:pt x="4062349" y="150368"/>
                  </a:cubicBezTo>
                  <a:lnTo>
                    <a:pt x="4062349" y="1015238"/>
                  </a:lnTo>
                  <a:cubicBezTo>
                    <a:pt x="4062349" y="1098296"/>
                    <a:pt x="3995039" y="1165606"/>
                    <a:pt x="3911981" y="1165606"/>
                  </a:cubicBezTo>
                  <a:lnTo>
                    <a:pt x="150368" y="1165606"/>
                  </a:lnTo>
                  <a:cubicBezTo>
                    <a:pt x="67310" y="1165606"/>
                    <a:pt x="0" y="1098296"/>
                    <a:pt x="0" y="1015238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7719365" y="8010144"/>
            <a:ext cx="2803550" cy="850392"/>
            <a:chOff x="0" y="0"/>
            <a:chExt cx="3738067" cy="11338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73806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8068">
                  <a:moveTo>
                    <a:pt x="0" y="0"/>
                  </a:moveTo>
                  <a:lnTo>
                    <a:pt x="3738068" y="0"/>
                  </a:lnTo>
                  <a:lnTo>
                    <a:pt x="373806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37" r="0" b="-1423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9050"/>
              <a:ext cx="3738067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third-party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credentials required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660075" y="8339328"/>
            <a:ext cx="246888" cy="246888"/>
            <a:chOff x="0" y="0"/>
            <a:chExt cx="329184" cy="3291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82296"/>
                  </a:moveTo>
                  <a:lnTo>
                    <a:pt x="164592" y="82296"/>
                  </a:lnTo>
                  <a:lnTo>
                    <a:pt x="164592" y="0"/>
                  </a:lnTo>
                  <a:lnTo>
                    <a:pt x="329184" y="164592"/>
                  </a:lnTo>
                  <a:lnTo>
                    <a:pt x="164592" y="329184"/>
                  </a:lnTo>
                  <a:lnTo>
                    <a:pt x="164592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0922489" y="7998238"/>
            <a:ext cx="3046819" cy="874205"/>
            <a:chOff x="0" y="0"/>
            <a:chExt cx="4062425" cy="116560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062349" cy="1165606"/>
            </a:xfrm>
            <a:custGeom>
              <a:avLst/>
              <a:gdLst/>
              <a:ahLst/>
              <a:cxnLst/>
              <a:rect r="r" b="b" t="t" l="l"/>
              <a:pathLst>
                <a:path h="1165606" w="40623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911981" y="0"/>
                  </a:lnTo>
                  <a:cubicBezTo>
                    <a:pt x="3995039" y="0"/>
                    <a:pt x="4062349" y="67310"/>
                    <a:pt x="4062349" y="150368"/>
                  </a:cubicBezTo>
                  <a:lnTo>
                    <a:pt x="4062349" y="1015238"/>
                  </a:lnTo>
                  <a:cubicBezTo>
                    <a:pt x="4062349" y="1098296"/>
                    <a:pt x="3995039" y="1165606"/>
                    <a:pt x="3911981" y="1165606"/>
                  </a:cubicBezTo>
                  <a:lnTo>
                    <a:pt x="150368" y="1165606"/>
                  </a:lnTo>
                  <a:cubicBezTo>
                    <a:pt x="67310" y="1165606"/>
                    <a:pt x="0" y="1098296"/>
                    <a:pt x="0" y="1015238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E8EEF4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1044123" y="8010144"/>
            <a:ext cx="2803550" cy="850392"/>
            <a:chOff x="0" y="0"/>
            <a:chExt cx="3738067" cy="113385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73806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8068">
                  <a:moveTo>
                    <a:pt x="0" y="0"/>
                  </a:moveTo>
                  <a:lnTo>
                    <a:pt x="3738068" y="0"/>
                  </a:lnTo>
                  <a:lnTo>
                    <a:pt x="373806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37" r="0" b="-14237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3738067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execution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984834" y="8339328"/>
            <a:ext cx="246888" cy="246888"/>
            <a:chOff x="0" y="0"/>
            <a:chExt cx="329184" cy="32918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82296"/>
                  </a:moveTo>
                  <a:lnTo>
                    <a:pt x="164592" y="82296"/>
                  </a:lnTo>
                  <a:lnTo>
                    <a:pt x="164592" y="0"/>
                  </a:lnTo>
                  <a:lnTo>
                    <a:pt x="329184" y="164592"/>
                  </a:lnTo>
                  <a:lnTo>
                    <a:pt x="164592" y="329184"/>
                  </a:lnTo>
                  <a:lnTo>
                    <a:pt x="164592" y="246888"/>
                  </a:lnTo>
                  <a:lnTo>
                    <a:pt x="0" y="246888"/>
                  </a:lnTo>
                  <a:close/>
                </a:path>
              </a:pathLst>
            </a:custGeom>
            <a:solidFill>
              <a:srgbClr val="8DA0B3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247247" y="7998238"/>
            <a:ext cx="3046819" cy="874205"/>
            <a:chOff x="0" y="0"/>
            <a:chExt cx="4062425" cy="116560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062349" cy="1165606"/>
            </a:xfrm>
            <a:custGeom>
              <a:avLst/>
              <a:gdLst/>
              <a:ahLst/>
              <a:cxnLst/>
              <a:rect r="r" b="b" t="t" l="l"/>
              <a:pathLst>
                <a:path h="1165606" w="4062349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3911981" y="0"/>
                  </a:lnTo>
                  <a:cubicBezTo>
                    <a:pt x="3995039" y="0"/>
                    <a:pt x="4062349" y="67310"/>
                    <a:pt x="4062349" y="150368"/>
                  </a:cubicBezTo>
                  <a:lnTo>
                    <a:pt x="4062349" y="1015238"/>
                  </a:lnTo>
                  <a:cubicBezTo>
                    <a:pt x="4062349" y="1098296"/>
                    <a:pt x="3995039" y="1165606"/>
                    <a:pt x="3911981" y="1165606"/>
                  </a:cubicBezTo>
                  <a:lnTo>
                    <a:pt x="150368" y="1165606"/>
                  </a:lnTo>
                  <a:cubicBezTo>
                    <a:pt x="67310" y="1165606"/>
                    <a:pt x="0" y="1098296"/>
                    <a:pt x="0" y="1015238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F2705B"/>
              </a:solidFill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4368882" y="8010144"/>
            <a:ext cx="2803550" cy="850392"/>
            <a:chOff x="0" y="0"/>
            <a:chExt cx="3738067" cy="11338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738068" cy="1133856"/>
            </a:xfrm>
            <a:custGeom>
              <a:avLst/>
              <a:gdLst/>
              <a:ahLst/>
              <a:cxnLst/>
              <a:rect r="r" b="b" t="t" l="l"/>
              <a:pathLst>
                <a:path h="1133856" w="3738068">
                  <a:moveTo>
                    <a:pt x="0" y="0"/>
                  </a:moveTo>
                  <a:lnTo>
                    <a:pt x="3738068" y="0"/>
                  </a:lnTo>
                  <a:lnTo>
                    <a:pt x="3738068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37" r="0" b="-14237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3738067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Third-party</a:t>
              </a:r>
            </a:p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E8EEF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60120" y="9107424"/>
            <a:ext cx="15773400" cy="480060"/>
            <a:chOff x="0" y="0"/>
            <a:chExt cx="21031200" cy="6400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103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21031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8DA0B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Result returns to backend → user, via the same request/response cycle as any tool call.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05 · PRIMITIVES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Connected Account, initiate(), link()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125980"/>
            <a:ext cx="16184880" cy="548640"/>
            <a:chOff x="0" y="0"/>
            <a:chExt cx="2157984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79839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808" r="0" b="-52480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5798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DA0B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primitives for the implementation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8214" y="2662714"/>
            <a:ext cx="3521392" cy="1642300"/>
            <a:chOff x="0" y="0"/>
            <a:chExt cx="4695190" cy="21897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95190" cy="2189734"/>
            </a:xfrm>
            <a:custGeom>
              <a:avLst/>
              <a:gdLst/>
              <a:ahLst/>
              <a:cxnLst/>
              <a:rect r="r" b="b" t="t" l="l"/>
              <a:pathLst>
                <a:path h="2189734" w="469519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546727" y="0"/>
                  </a:lnTo>
                  <a:cubicBezTo>
                    <a:pt x="4628769" y="0"/>
                    <a:pt x="4695190" y="66421"/>
                    <a:pt x="4695190" y="148463"/>
                  </a:cubicBezTo>
                  <a:lnTo>
                    <a:pt x="4695190" y="2041271"/>
                  </a:lnTo>
                  <a:cubicBezTo>
                    <a:pt x="4695190" y="2123313"/>
                    <a:pt x="4628769" y="2189734"/>
                    <a:pt x="45467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69848" y="2674620"/>
            <a:ext cx="3278124" cy="1618488"/>
            <a:chOff x="0" y="0"/>
            <a:chExt cx="4370832" cy="21579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70832" cy="2157984"/>
            </a:xfrm>
            <a:custGeom>
              <a:avLst/>
              <a:gdLst/>
              <a:ahLst/>
              <a:cxnLst/>
              <a:rect r="r" b="b" t="t" l="l"/>
              <a:pathLst>
                <a:path h="2157984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2157984"/>
                  </a:lnTo>
                  <a:lnTo>
                    <a:pt x="0" y="2157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46" t="0" r="-1334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370832" cy="2196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Connected Account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82954" y="2662714"/>
            <a:ext cx="11065193" cy="1642300"/>
            <a:chOff x="0" y="0"/>
            <a:chExt cx="14753590" cy="21897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53589" cy="2189734"/>
            </a:xfrm>
            <a:custGeom>
              <a:avLst/>
              <a:gdLst/>
              <a:ahLst/>
              <a:cxnLst/>
              <a:rect r="r" b="b" t="t" l="l"/>
              <a:pathLst>
                <a:path h="2189734" w="14753589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4605127" y="0"/>
                  </a:lnTo>
                  <a:cubicBezTo>
                    <a:pt x="14687169" y="0"/>
                    <a:pt x="14753589" y="66421"/>
                    <a:pt x="14753589" y="148463"/>
                  </a:cubicBezTo>
                  <a:lnTo>
                    <a:pt x="14753589" y="2041271"/>
                  </a:lnTo>
                  <a:cubicBezTo>
                    <a:pt x="14753589" y="2123313"/>
                    <a:pt x="14687169" y="2189734"/>
                    <a:pt x="146051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4869180" y="2811780"/>
            <a:ext cx="9464040" cy="1344168"/>
            <a:chOff x="0" y="0"/>
            <a:chExt cx="12618720" cy="17922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187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90" r="0" b="-871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2618720" cy="18684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SDK explicitly provisions a NO_AUTH request via the Connected Accounts API with status ACTIVE. Server-side persistence is not publicly verifiable.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8214" y="4445794"/>
            <a:ext cx="3521392" cy="1642300"/>
            <a:chOff x="0" y="0"/>
            <a:chExt cx="4695190" cy="21897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95190" cy="2189734"/>
            </a:xfrm>
            <a:custGeom>
              <a:avLst/>
              <a:gdLst/>
              <a:ahLst/>
              <a:cxnLst/>
              <a:rect r="r" b="b" t="t" l="l"/>
              <a:pathLst>
                <a:path h="2189734" w="469519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546727" y="0"/>
                  </a:lnTo>
                  <a:cubicBezTo>
                    <a:pt x="4628769" y="0"/>
                    <a:pt x="4695190" y="66421"/>
                    <a:pt x="4695190" y="148463"/>
                  </a:cubicBezTo>
                  <a:lnTo>
                    <a:pt x="4695190" y="2041271"/>
                  </a:lnTo>
                  <a:cubicBezTo>
                    <a:pt x="4695190" y="2123313"/>
                    <a:pt x="4628769" y="2189734"/>
                    <a:pt x="45467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69848" y="4457700"/>
            <a:ext cx="3278124" cy="1618488"/>
            <a:chOff x="0" y="0"/>
            <a:chExt cx="4370832" cy="21579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70832" cy="2157984"/>
            </a:xfrm>
            <a:custGeom>
              <a:avLst/>
              <a:gdLst/>
              <a:ahLst/>
              <a:cxnLst/>
              <a:rect r="r" b="b" t="t" l="l"/>
              <a:pathLst>
                <a:path h="2157984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2157984"/>
                  </a:lnTo>
                  <a:lnTo>
                    <a:pt x="0" y="2157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46" t="0" r="-133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370832" cy="2196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initiate()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582954" y="4445794"/>
            <a:ext cx="11065193" cy="1642300"/>
            <a:chOff x="0" y="0"/>
            <a:chExt cx="14753590" cy="21897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753589" cy="2189734"/>
            </a:xfrm>
            <a:custGeom>
              <a:avLst/>
              <a:gdLst/>
              <a:ahLst/>
              <a:cxnLst/>
              <a:rect r="r" b="b" t="t" l="l"/>
              <a:pathLst>
                <a:path h="2189734" w="14753589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4605127" y="0"/>
                  </a:lnTo>
                  <a:cubicBezTo>
                    <a:pt x="14687169" y="0"/>
                    <a:pt x="14753589" y="66421"/>
                    <a:pt x="14753589" y="148463"/>
                  </a:cubicBezTo>
                  <a:lnTo>
                    <a:pt x="14753589" y="2041271"/>
                  </a:lnTo>
                  <a:cubicBezTo>
                    <a:pt x="14753589" y="2123313"/>
                    <a:pt x="14687169" y="2189734"/>
                    <a:pt x="146051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869180" y="4594860"/>
            <a:ext cx="9464040" cy="1344168"/>
            <a:chOff x="0" y="0"/>
            <a:chExt cx="12618720" cy="17922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187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90" r="0" b="-871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12618720" cy="18684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correct, current call for NO_AUTH. Explicitly excluded from the OAuth deprecation — non-OAuth schemes “continue to work on initiate() unchanged.” Pass config = AuthScheme.no_auth({}).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8214" y="6228874"/>
            <a:ext cx="3521392" cy="1642300"/>
            <a:chOff x="0" y="0"/>
            <a:chExt cx="4695190" cy="21897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95190" cy="2189734"/>
            </a:xfrm>
            <a:custGeom>
              <a:avLst/>
              <a:gdLst/>
              <a:ahLst/>
              <a:cxnLst/>
              <a:rect r="r" b="b" t="t" l="l"/>
              <a:pathLst>
                <a:path h="2189734" w="469519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546727" y="0"/>
                  </a:lnTo>
                  <a:cubicBezTo>
                    <a:pt x="4628769" y="0"/>
                    <a:pt x="4695190" y="66421"/>
                    <a:pt x="4695190" y="148463"/>
                  </a:cubicBezTo>
                  <a:lnTo>
                    <a:pt x="4695190" y="2041271"/>
                  </a:lnTo>
                  <a:cubicBezTo>
                    <a:pt x="4695190" y="2123313"/>
                    <a:pt x="4628769" y="2189734"/>
                    <a:pt x="45467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69848" y="6240780"/>
            <a:ext cx="3278124" cy="1618488"/>
            <a:chOff x="0" y="0"/>
            <a:chExt cx="4370832" cy="21579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70832" cy="2157984"/>
            </a:xfrm>
            <a:custGeom>
              <a:avLst/>
              <a:gdLst/>
              <a:ahLst/>
              <a:cxnLst/>
              <a:rect r="r" b="b" t="t" l="l"/>
              <a:pathLst>
                <a:path h="2157984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2157984"/>
                  </a:lnTo>
                  <a:lnTo>
                    <a:pt x="0" y="2157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46" t="0" r="-1334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370832" cy="2196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link()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582954" y="6228874"/>
            <a:ext cx="11065193" cy="1642300"/>
            <a:chOff x="0" y="0"/>
            <a:chExt cx="14753590" cy="21897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753589" cy="2189734"/>
            </a:xfrm>
            <a:custGeom>
              <a:avLst/>
              <a:gdLst/>
              <a:ahLst/>
              <a:cxnLst/>
              <a:rect r="r" b="b" t="t" l="l"/>
              <a:pathLst>
                <a:path h="2189734" w="14753589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4605127" y="0"/>
                  </a:lnTo>
                  <a:cubicBezTo>
                    <a:pt x="14687169" y="0"/>
                    <a:pt x="14753589" y="66421"/>
                    <a:pt x="14753589" y="148463"/>
                  </a:cubicBezTo>
                  <a:lnTo>
                    <a:pt x="14753589" y="2041271"/>
                  </a:lnTo>
                  <a:cubicBezTo>
                    <a:pt x="14753589" y="2123313"/>
                    <a:pt x="14687169" y="2189734"/>
                    <a:pt x="146051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869180" y="6377940"/>
            <a:ext cx="9464040" cy="1344168"/>
            <a:chOff x="0" y="0"/>
            <a:chExt cx="12618720" cy="17922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187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90" r="0" b="-871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12618720" cy="18684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built for this. Its signature has no credential/config parameter — only a hosted redirect URL, which NO_AUTH has no use for. Behavior if called anyway is unknown. Don’t use it for NO_AUTH.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8214" y="8011954"/>
            <a:ext cx="3521392" cy="1642300"/>
            <a:chOff x="0" y="0"/>
            <a:chExt cx="4695190" cy="21897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95190" cy="2189734"/>
            </a:xfrm>
            <a:custGeom>
              <a:avLst/>
              <a:gdLst/>
              <a:ahLst/>
              <a:cxnLst/>
              <a:rect r="r" b="b" t="t" l="l"/>
              <a:pathLst>
                <a:path h="2189734" w="469519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546727" y="0"/>
                  </a:lnTo>
                  <a:cubicBezTo>
                    <a:pt x="4628769" y="0"/>
                    <a:pt x="4695190" y="66421"/>
                    <a:pt x="4695190" y="148463"/>
                  </a:cubicBezTo>
                  <a:lnTo>
                    <a:pt x="4695190" y="2041271"/>
                  </a:lnTo>
                  <a:cubicBezTo>
                    <a:pt x="4695190" y="2123313"/>
                    <a:pt x="4628769" y="2189734"/>
                    <a:pt x="45467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69848" y="8023860"/>
            <a:ext cx="3278124" cy="1618488"/>
            <a:chOff x="0" y="0"/>
            <a:chExt cx="4370832" cy="21579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70832" cy="2157984"/>
            </a:xfrm>
            <a:custGeom>
              <a:avLst/>
              <a:gdLst/>
              <a:ahLst/>
              <a:cxnLst/>
              <a:rect r="r" b="b" t="t" l="l"/>
              <a:pathLst>
                <a:path h="2157984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2157984"/>
                  </a:lnTo>
                  <a:lnTo>
                    <a:pt x="0" y="2157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346" t="0" r="-1334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370832" cy="2196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tools.execute()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582954" y="8011954"/>
            <a:ext cx="11065193" cy="1642300"/>
            <a:chOff x="0" y="0"/>
            <a:chExt cx="14753590" cy="218973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4753589" cy="2189734"/>
            </a:xfrm>
            <a:custGeom>
              <a:avLst/>
              <a:gdLst/>
              <a:ahLst/>
              <a:cxnLst/>
              <a:rect r="r" b="b" t="t" l="l"/>
              <a:pathLst>
                <a:path h="2189734" w="14753589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14605127" y="0"/>
                  </a:lnTo>
                  <a:cubicBezTo>
                    <a:pt x="14687169" y="0"/>
                    <a:pt x="14753589" y="66421"/>
                    <a:pt x="14753589" y="148463"/>
                  </a:cubicBezTo>
                  <a:lnTo>
                    <a:pt x="14753589" y="2041271"/>
                  </a:lnTo>
                  <a:cubicBezTo>
                    <a:pt x="14753589" y="2123313"/>
                    <a:pt x="14687169" y="2189734"/>
                    <a:pt x="14605127" y="2189734"/>
                  </a:cubicBezTo>
                  <a:lnTo>
                    <a:pt x="148463" y="2189734"/>
                  </a:lnTo>
                  <a:cubicBezTo>
                    <a:pt x="66421" y="2189734"/>
                    <a:pt x="0" y="2123313"/>
                    <a:pt x="0" y="2041271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869180" y="8161020"/>
            <a:ext cx="9464040" cy="1344168"/>
            <a:chOff x="0" y="0"/>
            <a:chExt cx="12618720" cy="17922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6187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792224"/>
                  </a:lnTo>
                  <a:lnTo>
                    <a:pt x="0" y="17922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190" r="0" b="-8719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12618720" cy="18684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 call as every other toolkit — no branching needed at execution time. Whether it can succeed with zero prior initiate() call is unknown.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06 · COMPARISON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NO_AUTH vs OAuth vs API Key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214" y="2525554"/>
            <a:ext cx="3521392" cy="778193"/>
            <a:chOff x="0" y="0"/>
            <a:chExt cx="4695190" cy="10375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95190" cy="1037590"/>
            </a:xfrm>
            <a:custGeom>
              <a:avLst/>
              <a:gdLst/>
              <a:ahLst/>
              <a:cxnLst/>
              <a:rect r="r" b="b" t="t" l="l"/>
              <a:pathLst>
                <a:path h="1037590" w="469519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4544314" y="0"/>
                  </a:lnTo>
                  <a:cubicBezTo>
                    <a:pt x="4627626" y="0"/>
                    <a:pt x="4695190" y="67564"/>
                    <a:pt x="4695190" y="150876"/>
                  </a:cubicBezTo>
                  <a:lnTo>
                    <a:pt x="4695190" y="886714"/>
                  </a:lnTo>
                  <a:cubicBezTo>
                    <a:pt x="4695190" y="970026"/>
                    <a:pt x="4627626" y="1037590"/>
                    <a:pt x="4544314" y="1037590"/>
                  </a:cubicBezTo>
                  <a:lnTo>
                    <a:pt x="150876" y="1037590"/>
                  </a:lnTo>
                  <a:cubicBezTo>
                    <a:pt x="67564" y="1037590"/>
                    <a:pt x="0" y="970026"/>
                    <a:pt x="0" y="886714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69848" y="2537460"/>
            <a:ext cx="3278124" cy="754380"/>
            <a:chOff x="0" y="0"/>
            <a:chExt cx="4370832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708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71" r="0" b="-346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370832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86942" y="2525554"/>
            <a:ext cx="4207192" cy="778193"/>
            <a:chOff x="0" y="0"/>
            <a:chExt cx="5609590" cy="10375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09590" cy="1037590"/>
            </a:xfrm>
            <a:custGeom>
              <a:avLst/>
              <a:gdLst/>
              <a:ahLst/>
              <a:cxnLst/>
              <a:rect r="r" b="b" t="t" l="l"/>
              <a:pathLst>
                <a:path h="1037590" w="560959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5458714" y="0"/>
                  </a:lnTo>
                  <a:cubicBezTo>
                    <a:pt x="5542026" y="0"/>
                    <a:pt x="5609590" y="67564"/>
                    <a:pt x="5609590" y="150876"/>
                  </a:cubicBezTo>
                  <a:lnTo>
                    <a:pt x="5609590" y="886714"/>
                  </a:lnTo>
                  <a:cubicBezTo>
                    <a:pt x="5609590" y="970026"/>
                    <a:pt x="5542026" y="1037590"/>
                    <a:pt x="5458714" y="1037590"/>
                  </a:cubicBezTo>
                  <a:lnTo>
                    <a:pt x="150876" y="1037590"/>
                  </a:lnTo>
                  <a:cubicBezTo>
                    <a:pt x="67564" y="1037590"/>
                    <a:pt x="0" y="970026"/>
                    <a:pt x="0" y="886714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608576" y="2537460"/>
            <a:ext cx="3963924" cy="754380"/>
            <a:chOff x="0" y="0"/>
            <a:chExt cx="5285232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852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85" r="0" b="-5238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5285232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OAuth (managed)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711470" y="2525554"/>
            <a:ext cx="4207192" cy="778193"/>
            <a:chOff x="0" y="0"/>
            <a:chExt cx="5609590" cy="10375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09590" cy="1037590"/>
            </a:xfrm>
            <a:custGeom>
              <a:avLst/>
              <a:gdLst/>
              <a:ahLst/>
              <a:cxnLst/>
              <a:rect r="r" b="b" t="t" l="l"/>
              <a:pathLst>
                <a:path h="1037590" w="560959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5458714" y="0"/>
                  </a:lnTo>
                  <a:cubicBezTo>
                    <a:pt x="5542026" y="0"/>
                    <a:pt x="5609590" y="67564"/>
                    <a:pt x="5609590" y="150876"/>
                  </a:cubicBezTo>
                  <a:lnTo>
                    <a:pt x="5609590" y="886714"/>
                  </a:lnTo>
                  <a:cubicBezTo>
                    <a:pt x="5609590" y="970026"/>
                    <a:pt x="5542026" y="1037590"/>
                    <a:pt x="5458714" y="1037590"/>
                  </a:cubicBezTo>
                  <a:lnTo>
                    <a:pt x="150876" y="1037590"/>
                  </a:lnTo>
                  <a:cubicBezTo>
                    <a:pt x="67564" y="1037590"/>
                    <a:pt x="0" y="970026"/>
                    <a:pt x="0" y="886714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833104" y="2537460"/>
            <a:ext cx="3963924" cy="754380"/>
            <a:chOff x="0" y="0"/>
            <a:chExt cx="5285232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852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85" r="0" b="-523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285232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API_KEY / BASIC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935998" y="2525554"/>
            <a:ext cx="4207192" cy="778193"/>
            <a:chOff x="0" y="0"/>
            <a:chExt cx="5609590" cy="10375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9590" cy="1037590"/>
            </a:xfrm>
            <a:custGeom>
              <a:avLst/>
              <a:gdLst/>
              <a:ahLst/>
              <a:cxnLst/>
              <a:rect r="r" b="b" t="t" l="l"/>
              <a:pathLst>
                <a:path h="1037590" w="560959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5458714" y="0"/>
                  </a:lnTo>
                  <a:cubicBezTo>
                    <a:pt x="5542026" y="0"/>
                    <a:pt x="5609590" y="67564"/>
                    <a:pt x="5609590" y="150876"/>
                  </a:cubicBezTo>
                  <a:lnTo>
                    <a:pt x="5609590" y="886714"/>
                  </a:lnTo>
                  <a:cubicBezTo>
                    <a:pt x="5609590" y="970026"/>
                    <a:pt x="5542026" y="1037590"/>
                    <a:pt x="5458714" y="1037590"/>
                  </a:cubicBezTo>
                  <a:lnTo>
                    <a:pt x="150876" y="1037590"/>
                  </a:lnTo>
                  <a:cubicBezTo>
                    <a:pt x="67564" y="1037590"/>
                    <a:pt x="0" y="970026"/>
                    <a:pt x="0" y="886714"/>
                  </a:cubicBezTo>
                  <a:close/>
                </a:path>
              </a:pathLst>
            </a:custGeom>
            <a:solidFill>
              <a:srgbClr val="0C2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057632" y="2537460"/>
            <a:ext cx="3963924" cy="754380"/>
            <a:chOff x="0" y="0"/>
            <a:chExt cx="5285232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852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385" r="0" b="-5238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285232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34E5B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NO_AUTH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8214" y="3362230"/>
            <a:ext cx="3521392" cy="1148524"/>
            <a:chOff x="0" y="0"/>
            <a:chExt cx="4695190" cy="15313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951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46951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545838" y="0"/>
                  </a:lnTo>
                  <a:cubicBezTo>
                    <a:pt x="4628388" y="0"/>
                    <a:pt x="4695190" y="66929"/>
                    <a:pt x="4695190" y="149352"/>
                  </a:cubicBezTo>
                  <a:lnTo>
                    <a:pt x="4695190" y="1381887"/>
                  </a:lnTo>
                  <a:cubicBezTo>
                    <a:pt x="4695190" y="1464437"/>
                    <a:pt x="4628261" y="1531239"/>
                    <a:pt x="45458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69848" y="3374136"/>
            <a:ext cx="3278124" cy="1124712"/>
            <a:chOff x="0" y="0"/>
            <a:chExt cx="4370832" cy="14996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708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1" r="0" b="-679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3708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8DA0B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Config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486942" y="3362230"/>
            <a:ext cx="4207192" cy="1148524"/>
            <a:chOff x="0" y="0"/>
            <a:chExt cx="5609590" cy="15313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608576" y="3374136"/>
            <a:ext cx="3963924" cy="1124712"/>
            <a:chOff x="0" y="0"/>
            <a:chExt cx="5285232" cy="14996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Composio-managed,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credentials needed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711470" y="3362230"/>
            <a:ext cx="4207192" cy="1148524"/>
            <a:chOff x="0" y="0"/>
            <a:chExt cx="5609590" cy="153136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833104" y="3374136"/>
            <a:ext cx="3963924" cy="1124712"/>
            <a:chOff x="0" y="0"/>
            <a:chExt cx="5285232" cy="14996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Custom, you provide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field names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935998" y="3362230"/>
            <a:ext cx="4207192" cy="1148524"/>
            <a:chOff x="0" y="0"/>
            <a:chExt cx="5609590" cy="153136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0201B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57632" y="3374136"/>
            <a:ext cx="3963924" cy="1124712"/>
            <a:chOff x="0" y="0"/>
            <a:chExt cx="5285232" cy="14996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Custom,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credentials: {}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48214" y="4569238"/>
            <a:ext cx="3521392" cy="1148524"/>
            <a:chOff x="0" y="0"/>
            <a:chExt cx="4695190" cy="153136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951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46951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545838" y="0"/>
                  </a:lnTo>
                  <a:cubicBezTo>
                    <a:pt x="4628388" y="0"/>
                    <a:pt x="4695190" y="66929"/>
                    <a:pt x="4695190" y="149352"/>
                  </a:cubicBezTo>
                  <a:lnTo>
                    <a:pt x="4695190" y="1381887"/>
                  </a:lnTo>
                  <a:cubicBezTo>
                    <a:pt x="4695190" y="1464437"/>
                    <a:pt x="4628261" y="1531239"/>
                    <a:pt x="45458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69848" y="4581144"/>
            <a:ext cx="3278124" cy="1124712"/>
            <a:chOff x="0" y="0"/>
            <a:chExt cx="4370832" cy="14996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708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1" r="0" b="-67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43708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8DA0B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Provisioning call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486942" y="4569238"/>
            <a:ext cx="4207192" cy="1148524"/>
            <a:chOff x="0" y="0"/>
            <a:chExt cx="5609590" cy="153136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4608576" y="4581144"/>
            <a:ext cx="3963924" cy="1124712"/>
            <a:chOff x="0" y="0"/>
            <a:chExt cx="5285232" cy="14996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link() — returns a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redirect URL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711470" y="4569238"/>
            <a:ext cx="4207192" cy="1148524"/>
            <a:chOff x="0" y="0"/>
            <a:chExt cx="5609590" cy="153136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8833104" y="4581144"/>
            <a:ext cx="3963924" cy="1124712"/>
            <a:chOff x="0" y="0"/>
            <a:chExt cx="5285232" cy="14996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initiate() with the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credential in config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935998" y="4569238"/>
            <a:ext cx="4207192" cy="1148524"/>
            <a:chOff x="0" y="0"/>
            <a:chExt cx="5609590" cy="153136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0201B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3057632" y="4581144"/>
            <a:ext cx="3963924" cy="1124712"/>
            <a:chOff x="0" y="0"/>
            <a:chExt cx="5285232" cy="14996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initiate() with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AuthScheme.no_auth({})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8214" y="5776246"/>
            <a:ext cx="3521392" cy="1148524"/>
            <a:chOff x="0" y="0"/>
            <a:chExt cx="4695190" cy="153136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951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46951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545838" y="0"/>
                  </a:lnTo>
                  <a:cubicBezTo>
                    <a:pt x="4628388" y="0"/>
                    <a:pt x="4695190" y="66929"/>
                    <a:pt x="4695190" y="149352"/>
                  </a:cubicBezTo>
                  <a:lnTo>
                    <a:pt x="4695190" y="1381887"/>
                  </a:lnTo>
                  <a:cubicBezTo>
                    <a:pt x="4695190" y="1464437"/>
                    <a:pt x="4628261" y="1531239"/>
                    <a:pt x="45458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069848" y="5788152"/>
            <a:ext cx="3278124" cy="1124712"/>
            <a:chOff x="0" y="0"/>
            <a:chExt cx="4370832" cy="149961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3708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1" r="0" b="-6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43708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8DA0B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action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486942" y="5776246"/>
            <a:ext cx="4207192" cy="1148524"/>
            <a:chOff x="0" y="0"/>
            <a:chExt cx="5609590" cy="153136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4608576" y="5788152"/>
            <a:ext cx="3963924" cy="1124712"/>
            <a:chOff x="0" y="0"/>
            <a:chExt cx="5285232" cy="149961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Must click Connect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Link, log in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711470" y="5776246"/>
            <a:ext cx="4207192" cy="1148524"/>
            <a:chOff x="0" y="0"/>
            <a:chExt cx="5609590" cy="153136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8833104" y="5788152"/>
            <a:ext cx="3963924" cy="1124712"/>
            <a:chOff x="0" y="0"/>
            <a:chExt cx="5285232" cy="149961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None — you supply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key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935998" y="5776246"/>
            <a:ext cx="4207192" cy="1148524"/>
            <a:chOff x="0" y="0"/>
            <a:chExt cx="5609590" cy="153136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0201B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057632" y="5788152"/>
            <a:ext cx="3963924" cy="1124712"/>
            <a:chOff x="0" y="0"/>
            <a:chExt cx="5285232" cy="14996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48214" y="6983254"/>
            <a:ext cx="3521392" cy="1148524"/>
            <a:chOff x="0" y="0"/>
            <a:chExt cx="4695190" cy="153136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6951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46951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545838" y="0"/>
                  </a:lnTo>
                  <a:cubicBezTo>
                    <a:pt x="4628388" y="0"/>
                    <a:pt x="4695190" y="66929"/>
                    <a:pt x="4695190" y="149352"/>
                  </a:cubicBezTo>
                  <a:lnTo>
                    <a:pt x="4695190" y="1381887"/>
                  </a:lnTo>
                  <a:cubicBezTo>
                    <a:pt x="4695190" y="1464437"/>
                    <a:pt x="4628261" y="1531239"/>
                    <a:pt x="45458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069848" y="6995160"/>
            <a:ext cx="3278124" cy="1124712"/>
            <a:chOff x="0" y="0"/>
            <a:chExt cx="4370832" cy="149961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708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1" r="0" b="-6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43708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8DA0B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 on creation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4486942" y="6983254"/>
            <a:ext cx="4207192" cy="1148524"/>
            <a:chOff x="0" y="0"/>
            <a:chExt cx="5609590" cy="153136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4608576" y="6995160"/>
            <a:ext cx="3963924" cy="1124712"/>
            <a:chOff x="0" y="0"/>
            <a:chExt cx="5285232" cy="149961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INITIALIZING until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redirect completes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711470" y="6983254"/>
            <a:ext cx="4207192" cy="1148524"/>
            <a:chOff x="0" y="0"/>
            <a:chExt cx="5609590" cy="153136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8833104" y="6995160"/>
            <a:ext cx="3963924" cy="1124712"/>
            <a:chOff x="0" y="0"/>
            <a:chExt cx="5285232" cy="149961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immediately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2935998" y="6983254"/>
            <a:ext cx="4207192" cy="1148524"/>
            <a:chOff x="0" y="0"/>
            <a:chExt cx="5609590" cy="153136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0201B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057632" y="6995160"/>
            <a:ext cx="3963924" cy="1124712"/>
            <a:chOff x="0" y="0"/>
            <a:chExt cx="5285232" cy="149961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immediately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48214" y="8190262"/>
            <a:ext cx="3521392" cy="1148524"/>
            <a:chOff x="0" y="0"/>
            <a:chExt cx="4695190" cy="153136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6951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46951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4545838" y="0"/>
                  </a:lnTo>
                  <a:cubicBezTo>
                    <a:pt x="4628388" y="0"/>
                    <a:pt x="4695190" y="66929"/>
                    <a:pt x="4695190" y="149352"/>
                  </a:cubicBezTo>
                  <a:lnTo>
                    <a:pt x="4695190" y="1381887"/>
                  </a:lnTo>
                  <a:cubicBezTo>
                    <a:pt x="4695190" y="1464437"/>
                    <a:pt x="4628261" y="1531239"/>
                    <a:pt x="45458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69848" y="8202168"/>
            <a:ext cx="3278124" cy="1124712"/>
            <a:chOff x="0" y="0"/>
            <a:chExt cx="4370832" cy="149961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3708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91" r="0" b="-6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43708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8DA0B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Execution call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4486942" y="8190262"/>
            <a:ext cx="4207192" cy="1148524"/>
            <a:chOff x="0" y="0"/>
            <a:chExt cx="5609590" cy="153136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4608576" y="8202168"/>
            <a:ext cx="3963924" cy="1124712"/>
            <a:chOff x="0" y="0"/>
            <a:chExt cx="5285232" cy="149961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tools.execute() /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— no branching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8711470" y="8190262"/>
            <a:ext cx="4207192" cy="1148524"/>
            <a:chOff x="0" y="0"/>
            <a:chExt cx="5609590" cy="153136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263140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8833104" y="8202168"/>
            <a:ext cx="3963924" cy="1124712"/>
            <a:chOff x="0" y="0"/>
            <a:chExt cx="5285232" cy="149961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935998" y="8190262"/>
            <a:ext cx="4207192" cy="1148524"/>
            <a:chOff x="0" y="0"/>
            <a:chExt cx="5609590" cy="153136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609590" cy="1531239"/>
            </a:xfrm>
            <a:custGeom>
              <a:avLst/>
              <a:gdLst/>
              <a:ahLst/>
              <a:cxnLst/>
              <a:rect r="r" b="b" t="t" l="l"/>
              <a:pathLst>
                <a:path h="1531239" w="560959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5460238" y="0"/>
                  </a:lnTo>
                  <a:cubicBezTo>
                    <a:pt x="5542788" y="0"/>
                    <a:pt x="5609590" y="66929"/>
                    <a:pt x="5609590" y="149352"/>
                  </a:cubicBezTo>
                  <a:lnTo>
                    <a:pt x="5609590" y="1381887"/>
                  </a:lnTo>
                  <a:cubicBezTo>
                    <a:pt x="5609590" y="1464437"/>
                    <a:pt x="5542661" y="1531239"/>
                    <a:pt x="5460238" y="1531239"/>
                  </a:cubicBezTo>
                  <a:lnTo>
                    <a:pt x="149352" y="1531239"/>
                  </a:lnTo>
                  <a:cubicBezTo>
                    <a:pt x="66929" y="1531366"/>
                    <a:pt x="0" y="1464437"/>
                    <a:pt x="0" y="1382014"/>
                  </a:cubicBezTo>
                  <a:close/>
                </a:path>
              </a:pathLst>
            </a:custGeom>
            <a:solidFill>
              <a:srgbClr val="10201B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3057632" y="8202168"/>
            <a:ext cx="3963924" cy="1124712"/>
            <a:chOff x="0" y="0"/>
            <a:chExt cx="5285232" cy="149961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285232" cy="1499616"/>
            </a:xfrm>
            <a:custGeom>
              <a:avLst/>
              <a:gdLst/>
              <a:ahLst/>
              <a:cxnLst/>
              <a:rect r="r" b="b" t="t" l="l"/>
              <a:pathLst>
                <a:path h="1499616" w="5285232">
                  <a:moveTo>
                    <a:pt x="0" y="0"/>
                  </a:moveTo>
                  <a:lnTo>
                    <a:pt x="5285232" y="0"/>
                  </a:lnTo>
                  <a:lnTo>
                    <a:pt x="5285232" y="1499616"/>
                  </a:lnTo>
                  <a:lnTo>
                    <a:pt x="0" y="14996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2" r="0" b="-1867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28575"/>
              <a:ext cx="5285232" cy="1528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Same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07 · DIVISION OF RESPONSIBILITY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Our Platform vs. Composio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214" y="2525554"/>
            <a:ext cx="7704772" cy="6333172"/>
            <a:chOff x="0" y="0"/>
            <a:chExt cx="10273030" cy="84442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73030" cy="8444230"/>
            </a:xfrm>
            <a:custGeom>
              <a:avLst/>
              <a:gdLst/>
              <a:ahLst/>
              <a:cxnLst/>
              <a:rect r="r" b="b" t="t" l="l"/>
              <a:pathLst>
                <a:path h="8444230" w="1027303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126218" y="0"/>
                  </a:lnTo>
                  <a:cubicBezTo>
                    <a:pt x="10207372" y="0"/>
                    <a:pt x="10273030" y="65786"/>
                    <a:pt x="10273030" y="146812"/>
                  </a:cubicBezTo>
                  <a:lnTo>
                    <a:pt x="10273030" y="8297418"/>
                  </a:lnTo>
                  <a:cubicBezTo>
                    <a:pt x="10273030" y="8378572"/>
                    <a:pt x="10207244" y="8444230"/>
                    <a:pt x="10126218" y="8444230"/>
                  </a:cubicBezTo>
                  <a:lnTo>
                    <a:pt x="146812" y="8444230"/>
                  </a:lnTo>
                  <a:cubicBezTo>
                    <a:pt x="65786" y="8444230"/>
                    <a:pt x="0" y="8378444"/>
                    <a:pt x="0" y="8297418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880360"/>
            <a:ext cx="6858000" cy="480060"/>
            <a:chOff x="0" y="0"/>
            <a:chExt cx="9144000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spc="179">
                  <a:solidFill>
                    <a:srgbClr val="5B9BF2"/>
                  </a:solidFill>
                  <a:latin typeface="Consolas"/>
                  <a:ea typeface="Consolas"/>
                  <a:cs typeface="Consolas"/>
                  <a:sym typeface="Consolas"/>
                </a:rPr>
                <a:t>OUR FASTAPI BACKEND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1600" y="3648456"/>
            <a:ext cx="123444" cy="123444"/>
            <a:chOff x="0" y="0"/>
            <a:chExt cx="164592" cy="164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B9BF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673352" y="341833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User authentication (independent of Composio)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71600" y="4471416"/>
            <a:ext cx="123444" cy="123444"/>
            <a:chOff x="0" y="0"/>
            <a:chExt cx="164592" cy="164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B9BF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73352" y="424129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Stable userID management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71600" y="5294376"/>
            <a:ext cx="123444" cy="123444"/>
            <a:chOff x="0" y="0"/>
            <a:chExt cx="164592" cy="164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B9BF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673352" y="506425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the NO_AUTH Auth Config once, at setup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71600" y="6117336"/>
            <a:ext cx="123444" cy="123444"/>
            <a:chOff x="0" y="0"/>
            <a:chExt cx="164592" cy="1645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B9BF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673352" y="588721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Call initiate() once per user, per toolkit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71600" y="6940296"/>
            <a:ext cx="123444" cy="123444"/>
            <a:chOff x="0" y="0"/>
            <a:chExt cx="164592" cy="164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B9BF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673352" y="671017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Keep COMPOSIO_API_KEY server-side only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71600" y="7763256"/>
            <a:ext cx="123444" cy="123444"/>
            <a:chOff x="0" y="0"/>
            <a:chExt cx="164592" cy="1645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5B9BF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673352" y="753313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Call tools.execute() — same shape as any scheme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14974" y="2525554"/>
            <a:ext cx="7704772" cy="6333172"/>
            <a:chOff x="0" y="0"/>
            <a:chExt cx="10273030" cy="84442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73030" cy="8444230"/>
            </a:xfrm>
            <a:custGeom>
              <a:avLst/>
              <a:gdLst/>
              <a:ahLst/>
              <a:cxnLst/>
              <a:rect r="r" b="b" t="t" l="l"/>
              <a:pathLst>
                <a:path h="8444230" w="10273030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0126218" y="0"/>
                  </a:lnTo>
                  <a:cubicBezTo>
                    <a:pt x="10207372" y="0"/>
                    <a:pt x="10273030" y="65786"/>
                    <a:pt x="10273030" y="146812"/>
                  </a:cubicBezTo>
                  <a:lnTo>
                    <a:pt x="10273030" y="8297418"/>
                  </a:lnTo>
                  <a:cubicBezTo>
                    <a:pt x="10273030" y="8378572"/>
                    <a:pt x="10207244" y="8444230"/>
                    <a:pt x="10126218" y="8444230"/>
                  </a:cubicBezTo>
                  <a:lnTo>
                    <a:pt x="146812" y="8444230"/>
                  </a:lnTo>
                  <a:cubicBezTo>
                    <a:pt x="65786" y="8444230"/>
                    <a:pt x="0" y="8378444"/>
                    <a:pt x="0" y="8297418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738360" y="2880360"/>
            <a:ext cx="6858000" cy="480060"/>
            <a:chOff x="0" y="0"/>
            <a:chExt cx="914400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spc="179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COMPOSIO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738360" y="3648456"/>
            <a:ext cx="123444" cy="123444"/>
            <a:chOff x="0" y="0"/>
            <a:chExt cx="164592" cy="16459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4E5B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040112" y="341833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Auth Config → Connected Account model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738360" y="4471416"/>
            <a:ext cx="123444" cy="123444"/>
            <a:chOff x="0" y="0"/>
            <a:chExt cx="164592" cy="164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4E5B0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0040112" y="424129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Provisions NO_AUTH request as ACTIVE (SDK-confirmed)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738360" y="5294376"/>
            <a:ext cx="123444" cy="123444"/>
            <a:chOff x="0" y="0"/>
            <a:chExt cx="164592" cy="164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4E5B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0040112" y="506425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No redirect / handshake step for NO_AUTH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738360" y="6117336"/>
            <a:ext cx="123444" cy="123444"/>
            <a:chOff x="0" y="0"/>
            <a:chExt cx="164592" cy="164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4E5B0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040112" y="588721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Per-userID isolation of connections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738360" y="6940296"/>
            <a:ext cx="123444" cy="123444"/>
            <a:chOff x="0" y="0"/>
            <a:chExt cx="164592" cy="1645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4E5B0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0040112" y="671017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Resolves “does this call need a credential” at runtime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738360" y="7763256"/>
            <a:ext cx="123444" cy="123444"/>
            <a:chOff x="0" y="0"/>
            <a:chExt cx="164592" cy="1645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4592" cy="164592"/>
            </a:xfrm>
            <a:custGeom>
              <a:avLst/>
              <a:gdLst/>
              <a:ahLst/>
              <a:cxnLst/>
              <a:rect r="r" b="b" t="t" l="l"/>
              <a:pathLst>
                <a:path h="164592" w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34E5B0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0040112" y="7533132"/>
            <a:ext cx="644652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E8EEF4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Authenticates the backend layer via COMPOSIO_API_KEY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08 · 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Python / FastAPI Implementation Pattern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253615"/>
            <a:ext cx="7905750" cy="4339590"/>
            <a:chOff x="0" y="0"/>
            <a:chExt cx="10541000" cy="5786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5786120"/>
            </a:xfrm>
            <a:custGeom>
              <a:avLst/>
              <a:gdLst/>
              <a:ahLst/>
              <a:cxnLst/>
              <a:rect r="r" b="b" t="t" l="l"/>
              <a:pathLst>
                <a:path h="5786120" w="10541000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0430764" y="0"/>
                  </a:lnTo>
                  <a:cubicBezTo>
                    <a:pt x="10491597" y="0"/>
                    <a:pt x="10541000" y="49403"/>
                    <a:pt x="10541000" y="110236"/>
                  </a:cubicBezTo>
                  <a:lnTo>
                    <a:pt x="10541000" y="5675884"/>
                  </a:lnTo>
                  <a:cubicBezTo>
                    <a:pt x="10541000" y="5736717"/>
                    <a:pt x="10491597" y="5786120"/>
                    <a:pt x="10430764" y="5786120"/>
                  </a:cubicBezTo>
                  <a:lnTo>
                    <a:pt x="110236" y="5786120"/>
                  </a:lnTo>
                  <a:cubicBezTo>
                    <a:pt x="49403" y="5786120"/>
                    <a:pt x="0" y="5736717"/>
                    <a:pt x="0" y="5675884"/>
                  </a:cubicBezTo>
                  <a:close/>
                </a:path>
              </a:pathLst>
            </a:custGeom>
            <a:solidFill>
              <a:srgbClr val="0A0E13"/>
            </a:solidFill>
            <a:ln w="19050" cap="sq">
              <a:solidFill>
                <a:srgbClr val="26314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61872" y="2415921"/>
            <a:ext cx="7283196" cy="39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8DA0B3"/>
                </a:solidFill>
                <a:latin typeface="Consolas"/>
                <a:ea typeface="Consolas"/>
                <a:cs typeface="Consolas"/>
                <a:sym typeface="Consolas"/>
              </a:rPr>
              <a:t># 1. Composio client init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composio = Composio(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8DA0B3"/>
                </a:solidFill>
                <a:latin typeface="Consolas"/>
                <a:ea typeface="Consolas"/>
                <a:cs typeface="Consolas"/>
                <a:sym typeface="Consolas"/>
              </a:rPr>
              <a:t>    api_key=COMPOSIO_API_KEY  # server-side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algn="l">
              <a:lnSpc>
                <a:spcPts val="2230"/>
              </a:lnSpc>
            </a:pP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8DA0B3"/>
                </a:solidFill>
                <a:latin typeface="Consolas"/>
                <a:ea typeface="Consolas"/>
                <a:cs typeface="Consolas"/>
                <a:sym typeface="Consolas"/>
              </a:rPr>
              <a:t># 2. NO_AUTH Auth Config (once per toolkit)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auth_config = composio.auth_configs.create(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toolkit="some_no_auth_toolkit",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options={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    "type": "use_custom_auth",</a:t>
            </a:r>
          </a:p>
          <a:p>
            <a:pPr algn="l">
              <a:lnSpc>
                <a:spcPts val="2230"/>
              </a:lnSpc>
            </a:pPr>
            <a:r>
              <a:rPr lang="en-US" sz="1575" b="true">
                <a:solidFill>
                  <a:srgbClr val="34E5B0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    "auth_scheme": "NO_AUTH",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    "credentials": {},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},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85935" y="2253615"/>
            <a:ext cx="7905750" cy="4339590"/>
            <a:chOff x="0" y="0"/>
            <a:chExt cx="10541000" cy="5786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41000" cy="5786120"/>
            </a:xfrm>
            <a:custGeom>
              <a:avLst/>
              <a:gdLst/>
              <a:ahLst/>
              <a:cxnLst/>
              <a:rect r="r" b="b" t="t" l="l"/>
              <a:pathLst>
                <a:path h="5786120" w="10541000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0430764" y="0"/>
                  </a:lnTo>
                  <a:cubicBezTo>
                    <a:pt x="10491597" y="0"/>
                    <a:pt x="10541000" y="49403"/>
                    <a:pt x="10541000" y="110236"/>
                  </a:cubicBezTo>
                  <a:lnTo>
                    <a:pt x="10541000" y="5675884"/>
                  </a:lnTo>
                  <a:cubicBezTo>
                    <a:pt x="10541000" y="5736717"/>
                    <a:pt x="10491597" y="5786120"/>
                    <a:pt x="10430764" y="5786120"/>
                  </a:cubicBezTo>
                  <a:lnTo>
                    <a:pt x="110236" y="5786120"/>
                  </a:lnTo>
                  <a:cubicBezTo>
                    <a:pt x="49403" y="5786120"/>
                    <a:pt x="0" y="5736717"/>
                    <a:pt x="0" y="5675884"/>
                  </a:cubicBezTo>
                  <a:close/>
                </a:path>
              </a:pathLst>
            </a:custGeom>
            <a:solidFill>
              <a:srgbClr val="0A0E13"/>
            </a:solidFill>
            <a:ln w="19050" cap="sq">
              <a:solidFill>
                <a:srgbClr val="26314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697212" y="2415921"/>
            <a:ext cx="7283196" cy="39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8DA0B3"/>
                </a:solidFill>
                <a:latin typeface="Consolas"/>
                <a:ea typeface="Consolas"/>
                <a:cs typeface="Consolas"/>
                <a:sym typeface="Consolas"/>
              </a:rPr>
              <a:t># 3. Provision the connection (per user, once)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def provision_no_auth(user_id, auth_config_id):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req = composio.connected_accounts.initiate(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    user_id=user_id,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    auth_config_id=auth_config_id,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    config=composio.connected_accounts</a:t>
            </a:r>
          </a:p>
          <a:p>
            <a:pPr algn="l">
              <a:lnSpc>
                <a:spcPts val="2230"/>
              </a:lnSpc>
            </a:pPr>
            <a:r>
              <a:rPr lang="en-US" sz="1575" b="true">
                <a:solidFill>
                  <a:srgbClr val="34E5B0"/>
                </a:solidFill>
                <a:latin typeface="Consolas Bold"/>
                <a:ea typeface="Consolas Bold"/>
                <a:cs typeface="Consolas Bold"/>
                <a:sym typeface="Consolas Bold"/>
              </a:rPr>
              <a:t>            .auth_scheme.no_auth({}),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return req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8DA0B3"/>
                </a:solidFill>
                <a:latin typeface="Consolas"/>
                <a:ea typeface="Consolas"/>
                <a:cs typeface="Consolas"/>
                <a:sym typeface="Consolas"/>
              </a:rPr>
              <a:t>    # SDK sends the NO_AUTH provisioning request</a:t>
            </a:r>
          </a:p>
          <a:p>
            <a:pPr algn="l">
              <a:lnSpc>
                <a:spcPts val="2230"/>
              </a:lnSpc>
            </a:pPr>
            <a:r>
              <a:rPr lang="en-US" sz="1575">
                <a:solidFill>
                  <a:srgbClr val="8DA0B3"/>
                </a:solidFill>
                <a:latin typeface="Consolas"/>
                <a:ea typeface="Consolas"/>
                <a:cs typeface="Consolas"/>
                <a:sym typeface="Consolas"/>
              </a:rPr>
              <a:t>    # with ACTIVE status. No OAuth redirect required.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0595" y="6917055"/>
            <a:ext cx="16341090" cy="1939290"/>
            <a:chOff x="0" y="0"/>
            <a:chExt cx="21788120" cy="2585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88120" cy="2585720"/>
            </a:xfrm>
            <a:custGeom>
              <a:avLst/>
              <a:gdLst/>
              <a:ahLst/>
              <a:cxnLst/>
              <a:rect r="r" b="b" t="t" l="l"/>
              <a:pathLst>
                <a:path h="2585720" w="2178812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1677249" y="0"/>
                  </a:lnTo>
                  <a:cubicBezTo>
                    <a:pt x="21738462" y="0"/>
                    <a:pt x="21788120" y="49657"/>
                    <a:pt x="21788120" y="110871"/>
                  </a:cubicBezTo>
                  <a:lnTo>
                    <a:pt x="21788120" y="2474849"/>
                  </a:lnTo>
                  <a:cubicBezTo>
                    <a:pt x="21788120" y="2536063"/>
                    <a:pt x="21738462" y="2585720"/>
                    <a:pt x="21677249" y="2585720"/>
                  </a:cubicBezTo>
                  <a:lnTo>
                    <a:pt x="110871" y="2585720"/>
                  </a:lnTo>
                  <a:cubicBezTo>
                    <a:pt x="49657" y="2585720"/>
                    <a:pt x="0" y="2536063"/>
                    <a:pt x="0" y="2474849"/>
                  </a:cubicBezTo>
                  <a:close/>
                </a:path>
              </a:pathLst>
            </a:custGeom>
            <a:solidFill>
              <a:srgbClr val="0A0E13"/>
            </a:solidFill>
            <a:ln w="19050" cap="sq">
              <a:solidFill>
                <a:srgbClr val="26314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61872" y="7069836"/>
            <a:ext cx="15718536" cy="155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8DA0B3"/>
                </a:solidFill>
                <a:latin typeface="Consolas"/>
                <a:ea typeface="Consolas"/>
                <a:cs typeface="Consolas"/>
                <a:sym typeface="Consolas"/>
              </a:rPr>
              <a:t># 4. Runtime — identical for every auth scheme, no NO_AUTH branch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def run_tool(user_id, tool_slug, arguments):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return composio.tools.execute(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    tool_slug, user_id=user_id, arguments=arguments</a:t>
            </a:r>
          </a:p>
          <a:p>
            <a:pPr algn="l">
              <a:lnSpc>
                <a:spcPts val="2548"/>
              </a:lnSpc>
            </a:pPr>
            <a:r>
              <a:rPr lang="en-US" sz="1800">
                <a:solidFill>
                  <a:srgbClr val="E8EEF4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0120" y="9052560"/>
            <a:ext cx="16322040" cy="548640"/>
            <a:chOff x="0" y="0"/>
            <a:chExt cx="217627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762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8DA0B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NO_AUTH-specific code lives only in the provisioning function — everything downstream is scheme-agnostic.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spc="300">
                  <a:solidFill>
                    <a:srgbClr val="34E5B0"/>
                  </a:solidFill>
                  <a:latin typeface="Consolas"/>
                  <a:ea typeface="Consolas"/>
                  <a:cs typeface="Consolas"/>
                  <a:sym typeface="Consolas"/>
                </a:rPr>
                <a:t>09 · 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069848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Final Findings &amp; Recommended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8214" y="2456974"/>
            <a:ext cx="16345852" cy="2698433"/>
            <a:chOff x="0" y="0"/>
            <a:chExt cx="21794470" cy="35979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94470" cy="3597910"/>
            </a:xfrm>
            <a:custGeom>
              <a:avLst/>
              <a:gdLst/>
              <a:ahLst/>
              <a:cxnLst/>
              <a:rect r="r" b="b" t="t" l="l"/>
              <a:pathLst>
                <a:path h="3597910" w="21794470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21646896" y="0"/>
                  </a:lnTo>
                  <a:cubicBezTo>
                    <a:pt x="21728430" y="0"/>
                    <a:pt x="21794470" y="66040"/>
                    <a:pt x="21794470" y="147574"/>
                  </a:cubicBezTo>
                  <a:lnTo>
                    <a:pt x="21794470" y="3450336"/>
                  </a:lnTo>
                  <a:cubicBezTo>
                    <a:pt x="21794470" y="3531870"/>
                    <a:pt x="21728430" y="3597910"/>
                    <a:pt x="21646896" y="3597910"/>
                  </a:cubicBezTo>
                  <a:lnTo>
                    <a:pt x="147574" y="3597910"/>
                  </a:lnTo>
                  <a:cubicBezTo>
                    <a:pt x="66040" y="3597910"/>
                    <a:pt x="0" y="3531870"/>
                    <a:pt x="0" y="3450336"/>
                  </a:cubicBezTo>
                  <a:close/>
                </a:path>
              </a:pathLst>
            </a:custGeom>
            <a:solidFill>
              <a:srgbClr val="141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715768"/>
            <a:ext cx="15499080" cy="2263140"/>
            <a:chOff x="0" y="0"/>
            <a:chExt cx="20665440" cy="3017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65439" cy="3017520"/>
            </a:xfrm>
            <a:custGeom>
              <a:avLst/>
              <a:gdLst/>
              <a:ahLst/>
              <a:cxnLst/>
              <a:rect r="r" b="b" t="t" l="l"/>
              <a:pathLst>
                <a:path h="3017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442" r="0" b="-8344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20665440" cy="3112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10"/>
                </a:lnSpc>
              </a:pPr>
              <a:r>
                <a:rPr lang="en-US" sz="2250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NO_AUTH means the third-party API requires no credentials. Our backend still authenticates to Composio using COMPOSIO_API_KEY and identifies users using userID. The public SDK provides an explicit NO_AUTH provisioning flow through initiate() with ACTIVE status. Server-side persistence details are not publicly verifiable.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8214" y="5405914"/>
            <a:ext cx="7704772" cy="2972752"/>
            <a:chOff x="0" y="0"/>
            <a:chExt cx="10273030" cy="3963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73030" cy="3963670"/>
            </a:xfrm>
            <a:custGeom>
              <a:avLst/>
              <a:gdLst/>
              <a:ahLst/>
              <a:cxnLst/>
              <a:rect r="r" b="b" t="t" l="l"/>
              <a:pathLst>
                <a:path h="3963670" w="1027303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125583" y="0"/>
                  </a:lnTo>
                  <a:cubicBezTo>
                    <a:pt x="10206989" y="0"/>
                    <a:pt x="10273030" y="66040"/>
                    <a:pt x="10273030" y="147447"/>
                  </a:cubicBezTo>
                  <a:lnTo>
                    <a:pt x="10273030" y="3816223"/>
                  </a:lnTo>
                  <a:cubicBezTo>
                    <a:pt x="10273030" y="3897630"/>
                    <a:pt x="10206989" y="3963670"/>
                    <a:pt x="10125583" y="3963670"/>
                  </a:cubicBezTo>
                  <a:lnTo>
                    <a:pt x="147447" y="3963670"/>
                  </a:lnTo>
                  <a:cubicBezTo>
                    <a:pt x="66040" y="3963670"/>
                    <a:pt x="0" y="3897630"/>
                    <a:pt x="0" y="3816223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5B9BF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5664708"/>
            <a:ext cx="6858000" cy="411480"/>
            <a:chOff x="0" y="0"/>
            <a:chExt cx="91440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180">
                  <a:solidFill>
                    <a:srgbClr val="5B9BF2"/>
                  </a:solidFill>
                  <a:latin typeface="Consolas"/>
                  <a:ea typeface="Consolas"/>
                  <a:cs typeface="Consolas"/>
                  <a:sym typeface="Consolas"/>
                </a:rPr>
                <a:t>STILL OURS TO MANAGE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6172200"/>
            <a:ext cx="6858000" cy="2057400"/>
            <a:chOff x="0" y="0"/>
            <a:chExt cx="9144000" cy="274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42875"/>
              <a:ext cx="9144000" cy="2886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3"/>
                </a:lnSpc>
              </a:pPr>
              <a:r>
                <a:rPr lang="en-US" sz="20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userID</a:t>
              </a:r>
            </a:p>
            <a:p>
              <a:pPr algn="l">
                <a:lnSpc>
                  <a:spcPts val="3523"/>
                </a:lnSpc>
              </a:pPr>
              <a:r>
                <a:rPr lang="en-US" sz="20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Auth Config setup</a:t>
              </a:r>
            </a:p>
            <a:p>
              <a:pPr algn="l">
                <a:lnSpc>
                  <a:spcPts val="3523"/>
                </a:lnSpc>
              </a:pPr>
              <a:r>
                <a:rPr lang="en-US" sz="20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COMPOSIO_API_KEY custody</a:t>
              </a:r>
            </a:p>
            <a:p>
              <a:pPr algn="l">
                <a:lnSpc>
                  <a:spcPts val="3523"/>
                </a:lnSpc>
              </a:pPr>
              <a:r>
                <a:rPr lang="en-US" sz="202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Explicit initiate() at onboarding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14974" y="5405914"/>
            <a:ext cx="7704772" cy="2972752"/>
            <a:chOff x="0" y="0"/>
            <a:chExt cx="10273030" cy="39636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73030" cy="3963670"/>
            </a:xfrm>
            <a:custGeom>
              <a:avLst/>
              <a:gdLst/>
              <a:ahLst/>
              <a:cxnLst/>
              <a:rect r="r" b="b" t="t" l="l"/>
              <a:pathLst>
                <a:path h="3963670" w="1027303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125583" y="0"/>
                  </a:lnTo>
                  <a:cubicBezTo>
                    <a:pt x="10206989" y="0"/>
                    <a:pt x="10273030" y="66040"/>
                    <a:pt x="10273030" y="147447"/>
                  </a:cubicBezTo>
                  <a:lnTo>
                    <a:pt x="10273030" y="3816223"/>
                  </a:lnTo>
                  <a:cubicBezTo>
                    <a:pt x="10273030" y="3897630"/>
                    <a:pt x="10206989" y="3963670"/>
                    <a:pt x="10125583" y="3963670"/>
                  </a:cubicBezTo>
                  <a:lnTo>
                    <a:pt x="147447" y="3963670"/>
                  </a:lnTo>
                  <a:cubicBezTo>
                    <a:pt x="66040" y="3963670"/>
                    <a:pt x="0" y="3897630"/>
                    <a:pt x="0" y="3816223"/>
                  </a:cubicBezTo>
                  <a:close/>
                </a:path>
              </a:pathLst>
            </a:custGeom>
            <a:solidFill>
              <a:srgbClr val="1B232D"/>
            </a:solidFill>
            <a:ln w="23812" cap="sq">
              <a:solidFill>
                <a:srgbClr val="F2B84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738360" y="5664708"/>
            <a:ext cx="6858000" cy="411480"/>
            <a:chOff x="0" y="0"/>
            <a:chExt cx="91440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spc="180">
                  <a:solidFill>
                    <a:srgbClr val="F2B84B"/>
                  </a:solidFill>
                  <a:latin typeface="Consolas"/>
                  <a:ea typeface="Consolas"/>
                  <a:cs typeface="Consolas"/>
                  <a:sym typeface="Consolas"/>
                </a:rPr>
                <a:t>RESEARCH LIMITATION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738360" y="6172200"/>
            <a:ext cx="6858000" cy="1783080"/>
            <a:chOff x="0" y="0"/>
            <a:chExt cx="9144000" cy="2377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42" r="0" b="-2494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9144000" cy="2501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187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Server-side persistence of the Connected Account</a:t>
              </a:r>
            </a:p>
            <a:p>
              <a:pPr algn="l">
                <a:lnSpc>
                  <a:spcPts val="3150"/>
                </a:lnSpc>
              </a:pPr>
              <a:r>
                <a:rPr lang="en-US" sz="187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Auto-provisioning on first execute()</a:t>
              </a:r>
            </a:p>
            <a:p>
              <a:pPr algn="l">
                <a:lnSpc>
                  <a:spcPts val="3150"/>
                </a:lnSpc>
              </a:pPr>
              <a:r>
                <a:rPr lang="en-US" sz="1875">
                  <a:solidFill>
                    <a:srgbClr val="E8EE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session.toolkits() payload shape for NO_AUTH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8214" y="8629174"/>
            <a:ext cx="16345852" cy="1052512"/>
            <a:chOff x="0" y="0"/>
            <a:chExt cx="21794470" cy="14033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94471" cy="1403350"/>
            </a:xfrm>
            <a:custGeom>
              <a:avLst/>
              <a:gdLst/>
              <a:ahLst/>
              <a:cxnLst/>
              <a:rect r="r" b="b" t="t" l="l"/>
              <a:pathLst>
                <a:path h="1403350" w="21794471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1644738" y="0"/>
                  </a:lnTo>
                  <a:cubicBezTo>
                    <a:pt x="21727415" y="0"/>
                    <a:pt x="21794471" y="67056"/>
                    <a:pt x="21794471" y="149733"/>
                  </a:cubicBezTo>
                  <a:lnTo>
                    <a:pt x="21794471" y="1253617"/>
                  </a:lnTo>
                  <a:cubicBezTo>
                    <a:pt x="21794471" y="1336294"/>
                    <a:pt x="21727415" y="1403350"/>
                    <a:pt x="21644738" y="1403350"/>
                  </a:cubicBezTo>
                  <a:lnTo>
                    <a:pt x="149733" y="1403350"/>
                  </a:lnTo>
                  <a:cubicBezTo>
                    <a:pt x="67056" y="1403350"/>
                    <a:pt x="0" y="1336294"/>
                    <a:pt x="0" y="1253617"/>
                  </a:cubicBezTo>
                  <a:close/>
                </a:path>
              </a:pathLst>
            </a:custGeom>
            <a:solidFill>
              <a:srgbClr val="0C2A22"/>
            </a:solidFill>
            <a:ln w="23812" cap="sq">
              <a:solidFill>
                <a:srgbClr val="34E5B0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71600" y="8641080"/>
            <a:ext cx="15499080" cy="1028700"/>
            <a:chOff x="0" y="0"/>
            <a:chExt cx="2066544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665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2066544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 i="true">
                  <a:solidFill>
                    <a:srgbClr val="34E5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Recommended implementation: explicitly provision NO_AUTH with initiate() and use the normal tools.execute() flow. Do not rely on undocumented auto-provisioning.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7048988" y="9601200"/>
            <a:ext cx="822960" cy="480060"/>
            <a:chOff x="0" y="0"/>
            <a:chExt cx="109728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DA0B3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DAHTe_ufO2E</dc:identifier>
  <dcterms:modified xsi:type="dcterms:W3CDTF">2011-08-01T06:04:30Z</dcterms:modified>
  <cp:revision>1</cp:revision>
  <dc:title>Composio NO_AUTH Deck Review</dc:title>
</cp:coreProperties>
</file>